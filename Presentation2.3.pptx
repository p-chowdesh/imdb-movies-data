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0" r:id="rId2"/>
    <p:sldId id="258" r:id="rId3"/>
    <p:sldId id="261" r:id="rId4"/>
    <p:sldId id="262" r:id="rId5"/>
    <p:sldId id="263" r:id="rId6"/>
    <p:sldId id="264" r:id="rId7"/>
    <p:sldId id="267" r:id="rId8"/>
    <p:sldId id="266" r:id="rId9"/>
    <p:sldId id="265" r:id="rId10"/>
    <p:sldId id="268" r:id="rId11"/>
    <p:sldId id="269" r:id="rId12"/>
    <p:sldId id="270" r:id="rId13"/>
    <p:sldId id="271" r:id="rId14"/>
    <p:sldId id="274" r:id="rId15"/>
    <p:sldId id="272" r:id="rId16"/>
    <p:sldId id="280" r:id="rId17"/>
    <p:sldId id="273" r:id="rId18"/>
    <p:sldId id="281" r:id="rId19"/>
    <p:sldId id="282" r:id="rId20"/>
    <p:sldId id="277" r:id="rId21"/>
    <p:sldId id="278" r:id="rId22"/>
    <p:sldId id="279" r:id="rId23"/>
    <p:sldId id="276" r:id="rId24"/>
    <p:sldId id="275"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9" d="100"/>
          <a:sy n="79" d="100"/>
        </p:scale>
        <p:origin x="86"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BD00B-E7B1-4568-81F3-7D021A5774DA}" type="datetimeFigureOut">
              <a:rPr lang="en-IN" smtClean="0"/>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AB7901-23AE-445C-88BD-4C378381B3FB}" type="slidenum">
              <a:rPr lang="en-IN" smtClean="0"/>
              <a:t>‹#›</a:t>
            </a:fld>
            <a:endParaRPr lang="en-IN"/>
          </a:p>
        </p:txBody>
      </p:sp>
    </p:spTree>
    <p:extLst>
      <p:ext uri="{BB962C8B-B14F-4D97-AF65-F5344CB8AC3E}">
        <p14:creationId xmlns:p14="http://schemas.microsoft.com/office/powerpoint/2010/main" val="41337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2</a:t>
            </a:fld>
            <a:endParaRPr lang="en-IN"/>
          </a:p>
        </p:txBody>
      </p:sp>
    </p:spTree>
    <p:extLst>
      <p:ext uri="{BB962C8B-B14F-4D97-AF65-F5344CB8AC3E}">
        <p14:creationId xmlns:p14="http://schemas.microsoft.com/office/powerpoint/2010/main" val="1693572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5</a:t>
            </a:fld>
            <a:endParaRPr lang="en-IN"/>
          </a:p>
        </p:txBody>
      </p:sp>
    </p:spTree>
    <p:extLst>
      <p:ext uri="{BB962C8B-B14F-4D97-AF65-F5344CB8AC3E}">
        <p14:creationId xmlns:p14="http://schemas.microsoft.com/office/powerpoint/2010/main" val="298689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11</a:t>
            </a:fld>
            <a:endParaRPr lang="en-IN"/>
          </a:p>
        </p:txBody>
      </p:sp>
    </p:spTree>
    <p:extLst>
      <p:ext uri="{BB962C8B-B14F-4D97-AF65-F5344CB8AC3E}">
        <p14:creationId xmlns:p14="http://schemas.microsoft.com/office/powerpoint/2010/main" val="870475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12</a:t>
            </a:fld>
            <a:endParaRPr lang="en-IN"/>
          </a:p>
        </p:txBody>
      </p:sp>
    </p:spTree>
    <p:extLst>
      <p:ext uri="{BB962C8B-B14F-4D97-AF65-F5344CB8AC3E}">
        <p14:creationId xmlns:p14="http://schemas.microsoft.com/office/powerpoint/2010/main" val="845510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14</a:t>
            </a:fld>
            <a:endParaRPr lang="en-IN"/>
          </a:p>
        </p:txBody>
      </p:sp>
    </p:spTree>
    <p:extLst>
      <p:ext uri="{BB962C8B-B14F-4D97-AF65-F5344CB8AC3E}">
        <p14:creationId xmlns:p14="http://schemas.microsoft.com/office/powerpoint/2010/main" val="2895453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20</a:t>
            </a:fld>
            <a:endParaRPr lang="en-IN"/>
          </a:p>
        </p:txBody>
      </p:sp>
    </p:spTree>
    <p:extLst>
      <p:ext uri="{BB962C8B-B14F-4D97-AF65-F5344CB8AC3E}">
        <p14:creationId xmlns:p14="http://schemas.microsoft.com/office/powerpoint/2010/main" val="553948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AB7901-23AE-445C-88BD-4C378381B3FB}" type="slidenum">
              <a:rPr lang="en-IN" smtClean="0"/>
              <a:t>24</a:t>
            </a:fld>
            <a:endParaRPr lang="en-IN"/>
          </a:p>
        </p:txBody>
      </p:sp>
    </p:spTree>
    <p:extLst>
      <p:ext uri="{BB962C8B-B14F-4D97-AF65-F5344CB8AC3E}">
        <p14:creationId xmlns:p14="http://schemas.microsoft.com/office/powerpoint/2010/main" val="2203552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00D4-1E85-8ECC-5AD0-9A072F4FE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78C27-8D98-CF6B-9E15-5708C7BB4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AD832-0C18-9E1A-F17B-35ACA15A26E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50C2E2-27B3-39D3-7FE6-4EB301E55282}"/>
              </a:ext>
            </a:extLst>
          </p:cNvPr>
          <p:cNvSpPr>
            <a:spLocks noGrp="1"/>
          </p:cNvSpPr>
          <p:nvPr>
            <p:ph type="sldNum" sz="quarter" idx="5"/>
          </p:nvPr>
        </p:nvSpPr>
        <p:spPr/>
        <p:txBody>
          <a:bodyPr/>
          <a:lstStyle/>
          <a:p>
            <a:fld id="{02AB7901-23AE-445C-88BD-4C378381B3FB}" type="slidenum">
              <a:rPr lang="en-IN" smtClean="0"/>
              <a:t>25</a:t>
            </a:fld>
            <a:endParaRPr lang="en-IN"/>
          </a:p>
        </p:txBody>
      </p:sp>
    </p:spTree>
    <p:extLst>
      <p:ext uri="{BB962C8B-B14F-4D97-AF65-F5344CB8AC3E}">
        <p14:creationId xmlns:p14="http://schemas.microsoft.com/office/powerpoint/2010/main" val="3548761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A083B-5FC3-98F2-AEC5-FEFFD37299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597282-03E7-76B8-CCE4-715B519A5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CAA582-77FC-03BF-51BE-004A0776DE04}"/>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2253DDCB-4ED1-75E5-7817-EF34DE1DFD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0E6350-F579-9083-9974-F144E701BA6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37402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DDBE-6016-ECB9-FA29-A67C92C11A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41219-73F1-F355-C1A0-5A129C6128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FA7FD9-2E86-E1FC-8AE2-D34DE0CCC7B5}"/>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F944C336-836D-B8AA-AF02-3DFEFAAB60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C65C3C-B4A3-D0A7-2240-3F02FAE21C68}"/>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10077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E35F-FD99-9D93-7209-B260764A22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D35DF4-B6CE-46B1-B99B-DBBFE0C575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ECAA9C-3138-EEBE-FA8D-D7D95F3753CC}"/>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DAA7305B-2B68-92E9-A417-E53AFB4F17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01388-477A-F41D-B0B7-343AA3B75B06}"/>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54479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AE041-57AA-92F5-536D-A8AE4F6CA9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442721-7087-906B-2583-2167762E6F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60FAC4-910A-03CA-93AA-9E0004255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61C481-E318-1B48-A626-20D08F775732}"/>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6" name="Footer Placeholder 5">
            <a:extLst>
              <a:ext uri="{FF2B5EF4-FFF2-40B4-BE49-F238E27FC236}">
                <a16:creationId xmlns:a16="http://schemas.microsoft.com/office/drawing/2014/main" id="{0A2E49BE-3167-7AFB-D096-7D5B4487CB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93287B-E4A7-3865-E3CF-0988273ACE2E}"/>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90642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AB20B-3553-646B-ADA7-9C3C4ADD4C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439130-EDE5-68A2-6239-49BA392DE2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F9725-1137-151F-9BEB-C604FD52C5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CEFF8D-85F8-0A81-C921-D8E786E2A4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63A903-A679-C64B-AB82-798DDFFC1A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64674D-FB4B-765A-37A6-CA8D5709B659}"/>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8" name="Footer Placeholder 7">
            <a:extLst>
              <a:ext uri="{FF2B5EF4-FFF2-40B4-BE49-F238E27FC236}">
                <a16:creationId xmlns:a16="http://schemas.microsoft.com/office/drawing/2014/main" id="{0B8ED294-B8C8-4810-8140-3E79F0A375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EF282C-0AC0-D4FF-C616-0306B2CE001E}"/>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820516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7ABE-8574-F7BC-15B1-B2B975B484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26D558-BA7D-D516-4A2D-986D1F580EEE}"/>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4" name="Footer Placeholder 3">
            <a:extLst>
              <a:ext uri="{FF2B5EF4-FFF2-40B4-BE49-F238E27FC236}">
                <a16:creationId xmlns:a16="http://schemas.microsoft.com/office/drawing/2014/main" id="{3B4E1DF1-6398-C143-FCFD-CE292EF455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EA6E1D-D662-AA8A-F70B-6D44EC507A1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2365294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86102-F5EC-FB77-AE23-8EDD7CCB249E}"/>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3" name="Footer Placeholder 2">
            <a:extLst>
              <a:ext uri="{FF2B5EF4-FFF2-40B4-BE49-F238E27FC236}">
                <a16:creationId xmlns:a16="http://schemas.microsoft.com/office/drawing/2014/main" id="{38A98CA0-2FA6-A4EB-BE9D-55666927C4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E7AFDB5-9D0B-2132-064B-ABE846C86F2A}"/>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057855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667D-20AF-8A26-DD46-EA7437A61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71A3EC-01E4-9024-C826-F98EB5A7C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F474DB-4E15-197A-490D-9E52364959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51F7A6-D0EB-8154-2CA6-FCAAAD55CD35}"/>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6" name="Footer Placeholder 5">
            <a:extLst>
              <a:ext uri="{FF2B5EF4-FFF2-40B4-BE49-F238E27FC236}">
                <a16:creationId xmlns:a16="http://schemas.microsoft.com/office/drawing/2014/main" id="{BA976772-E1D7-7DB9-11FE-6D45B169A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8E3957-AFFD-9277-E070-DF3E4078D049}"/>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15822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2A17F-1857-6B3A-D5F5-8AAE0AD53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F455D2-3FB4-11E4-74E9-8F9E39DA7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5EB1A7-7618-EA94-C390-DFA00817D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887230-EBFE-AF36-80C1-F75785D6CD2E}"/>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6" name="Footer Placeholder 5">
            <a:extLst>
              <a:ext uri="{FF2B5EF4-FFF2-40B4-BE49-F238E27FC236}">
                <a16:creationId xmlns:a16="http://schemas.microsoft.com/office/drawing/2014/main" id="{D519A2F7-B63A-8900-F295-1BE84D4558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01410A-A932-1254-34A9-8CD33CBCBCF7}"/>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66197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FAE8F-0702-D41F-75F1-C8290A9C40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5D6C6F-1405-7171-ACD6-52C791E2D1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09F990-246E-F650-4BFC-7FB9E98FAEBF}"/>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F7836186-BD05-7FA4-CE9C-B68346098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B61A90-64DE-D581-DAE5-6A47D368588F}"/>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47568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B192B7-B014-C4C2-F65F-B31A22E322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D9BE4C-2462-A749-F002-258C4515ED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306BCE-EC4E-30AF-BFC6-42918BEA065A}"/>
              </a:ext>
            </a:extLst>
          </p:cNvPr>
          <p:cNvSpPr>
            <a:spLocks noGrp="1"/>
          </p:cNvSpPr>
          <p:nvPr>
            <p:ph type="dt" sz="half" idx="10"/>
          </p:nvPr>
        </p:nvSpPr>
        <p:spPr/>
        <p:txBody>
          <a:body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8D4141A8-F1F0-ECA9-B0A1-F912C1E133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48F538-CB77-0408-FB88-9A7AB12920E3}"/>
              </a:ext>
            </a:extLst>
          </p:cNvPr>
          <p:cNvSpPr>
            <a:spLocks noGrp="1"/>
          </p:cNvSpPr>
          <p:nvPr>
            <p:ph type="sldNum" sz="quarter" idx="12"/>
          </p:nvPr>
        </p:nvSpPr>
        <p:spPr/>
        <p:txBody>
          <a:bodyPr/>
          <a:lstStyle/>
          <a:p>
            <a:fld id="{973C5778-2398-4BE7-AE98-88659974C2B3}" type="slidenum">
              <a:rPr lang="en-IN" smtClean="0"/>
              <a:t>‹#›</a:t>
            </a:fld>
            <a:endParaRPr lang="en-IN"/>
          </a:p>
        </p:txBody>
      </p:sp>
    </p:spTree>
    <p:extLst>
      <p:ext uri="{BB962C8B-B14F-4D97-AF65-F5344CB8AC3E}">
        <p14:creationId xmlns:p14="http://schemas.microsoft.com/office/powerpoint/2010/main" val="3551766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4236EA-19E1-9C8C-4895-93F2665A7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398097-B4A2-6374-696B-50FCFB1198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2931C0-08FE-BB2E-A9E2-363B5F38FD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1CD675-CC4C-4B43-B948-96D3BAB2DCF4}" type="datetimeFigureOut">
              <a:rPr lang="en-IN" smtClean="0"/>
              <a:t>11-04-2026</a:t>
            </a:fld>
            <a:endParaRPr lang="en-IN"/>
          </a:p>
        </p:txBody>
      </p:sp>
      <p:sp>
        <p:nvSpPr>
          <p:cNvPr id="5" name="Footer Placeholder 4">
            <a:extLst>
              <a:ext uri="{FF2B5EF4-FFF2-40B4-BE49-F238E27FC236}">
                <a16:creationId xmlns:a16="http://schemas.microsoft.com/office/drawing/2014/main" id="{0BBEF70F-6274-D65A-98A1-975AC8570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11C96C-B0E0-CFDF-BB84-29C70141C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C5778-2398-4BE7-AE98-88659974C2B3}" type="slidenum">
              <a:rPr lang="en-IN" smtClean="0"/>
              <a:t>‹#›</a:t>
            </a:fld>
            <a:endParaRPr lang="en-IN"/>
          </a:p>
        </p:txBody>
      </p:sp>
    </p:spTree>
    <p:extLst>
      <p:ext uri="{BB962C8B-B14F-4D97-AF65-F5344CB8AC3E}">
        <p14:creationId xmlns:p14="http://schemas.microsoft.com/office/powerpoint/2010/main" val="1236721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4.png"/><Relationship Id="rId5" Type="http://schemas.openxmlformats.org/officeDocument/2006/relationships/image" Target="../media/image5.pn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5.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7.png"/><Relationship Id="rId10" Type="http://schemas.openxmlformats.org/officeDocument/2006/relationships/image" Target="../media/image12.png"/><Relationship Id="rId4" Type="http://schemas.openxmlformats.org/officeDocument/2006/relationships/image" Target="../media/image26.png"/><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4.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14.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9.png"/><Relationship Id="rId7" Type="http://schemas.openxmlformats.org/officeDocument/2006/relationships/image" Target="../media/image3.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0.png"/><Relationship Id="rId9"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alpha val="65000"/>
          </a:schemeClr>
        </a:solidFill>
        <a:effectLst/>
      </p:bgPr>
    </p:bg>
    <p:spTree>
      <p:nvGrpSpPr>
        <p:cNvPr id="1" name="">
          <a:extLst>
            <a:ext uri="{FF2B5EF4-FFF2-40B4-BE49-F238E27FC236}">
              <a16:creationId xmlns:a16="http://schemas.microsoft.com/office/drawing/2014/main" id="{AD4B8F15-B023-61DD-D930-25217B4A007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BA10980-5F00-076A-9824-D660DFBACE8E}"/>
              </a:ext>
            </a:extLst>
          </p:cNvPr>
          <p:cNvSpPr/>
          <p:nvPr/>
        </p:nvSpPr>
        <p:spPr>
          <a:xfrm>
            <a:off x="990600" y="228599"/>
            <a:ext cx="9914467" cy="677333"/>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IMDB MOVIES Analysis Using SQL &amp; BI</a:t>
            </a:r>
            <a:endParaRPr lang="en-IN" b="1" dirty="0">
              <a:solidFill>
                <a:schemeClr val="tx1"/>
              </a:solidFill>
            </a:endParaRPr>
          </a:p>
        </p:txBody>
      </p:sp>
      <p:sp>
        <p:nvSpPr>
          <p:cNvPr id="3" name="Rectangle: Rounded Corners 2">
            <a:extLst>
              <a:ext uri="{FF2B5EF4-FFF2-40B4-BE49-F238E27FC236}">
                <a16:creationId xmlns:a16="http://schemas.microsoft.com/office/drawing/2014/main" id="{8C938008-E027-E378-A97F-A2290C761A4D}"/>
              </a:ext>
            </a:extLst>
          </p:cNvPr>
          <p:cNvSpPr/>
          <p:nvPr/>
        </p:nvSpPr>
        <p:spPr>
          <a:xfrm>
            <a:off x="431800" y="1397000"/>
            <a:ext cx="11201400" cy="450426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Project Team Id: </a:t>
            </a:r>
            <a:r>
              <a:rPr lang="en-US" dirty="0">
                <a:solidFill>
                  <a:schemeClr val="accent1">
                    <a:lumMod val="50000"/>
                  </a:schemeClr>
                </a:solidFill>
              </a:rPr>
              <a:t>PTID-CDA-FEB-26-1269</a:t>
            </a:r>
          </a:p>
          <a:p>
            <a:pPr algn="ctr"/>
            <a:endParaRPr lang="en-US" dirty="0">
              <a:solidFill>
                <a:schemeClr val="accent1">
                  <a:lumMod val="50000"/>
                </a:schemeClr>
              </a:solidFill>
            </a:endParaRPr>
          </a:p>
          <a:p>
            <a:pPr algn="ctr"/>
            <a:r>
              <a:rPr lang="en-US" b="1" dirty="0">
                <a:solidFill>
                  <a:schemeClr val="accent1">
                    <a:lumMod val="50000"/>
                  </a:schemeClr>
                </a:solidFill>
              </a:rPr>
              <a:t>  </a:t>
            </a:r>
            <a:r>
              <a:rPr lang="en-US" b="1" dirty="0">
                <a:solidFill>
                  <a:schemeClr val="tx1"/>
                </a:solidFill>
              </a:rPr>
              <a:t>Project Id:    </a:t>
            </a:r>
            <a:r>
              <a:rPr lang="en-IN" dirty="0">
                <a:solidFill>
                  <a:schemeClr val="accent1"/>
                </a:solidFill>
              </a:rPr>
              <a:t>PRSQ-02-IMDB Movies</a:t>
            </a:r>
          </a:p>
          <a:p>
            <a:pPr algn="ctr"/>
            <a:endParaRPr lang="en-US" dirty="0">
              <a:solidFill>
                <a:schemeClr val="accent1">
                  <a:lumMod val="50000"/>
                </a:schemeClr>
              </a:solidFill>
            </a:endParaRPr>
          </a:p>
          <a:p>
            <a:pPr algn="ctr"/>
            <a:r>
              <a:rPr lang="en-US" b="1" dirty="0">
                <a:solidFill>
                  <a:schemeClr val="tx1"/>
                </a:solidFill>
              </a:rPr>
              <a:t>Team members: </a:t>
            </a:r>
            <a:r>
              <a:rPr lang="en-US" dirty="0">
                <a:solidFill>
                  <a:schemeClr val="accent1">
                    <a:lumMod val="50000"/>
                  </a:schemeClr>
                </a:solidFill>
              </a:rPr>
              <a:t>P. Chowdesh, Darshan M</a:t>
            </a:r>
          </a:p>
          <a:p>
            <a:pPr algn="ctr"/>
            <a:endParaRPr lang="en-US" b="1" dirty="0">
              <a:solidFill>
                <a:schemeClr val="tx1"/>
              </a:solidFill>
            </a:endParaRPr>
          </a:p>
          <a:p>
            <a:pPr algn="ctr"/>
            <a:r>
              <a:rPr lang="en-US" b="1" dirty="0">
                <a:solidFill>
                  <a:schemeClr val="tx1"/>
                </a:solidFill>
              </a:rPr>
              <a:t>Course Name: </a:t>
            </a:r>
            <a:r>
              <a:rPr lang="en-US" dirty="0">
                <a:solidFill>
                  <a:schemeClr val="accent1">
                    <a:lumMod val="50000"/>
                  </a:schemeClr>
                </a:solidFill>
              </a:rPr>
              <a:t>Certified Data Analytic</a:t>
            </a:r>
          </a:p>
          <a:p>
            <a:pPr algn="ctr"/>
            <a:endParaRPr lang="en-US" b="1" dirty="0">
              <a:solidFill>
                <a:schemeClr val="tx1"/>
              </a:solidFill>
            </a:endParaRPr>
          </a:p>
          <a:p>
            <a:pPr algn="ctr"/>
            <a:r>
              <a:rPr lang="en-US" b="1" dirty="0">
                <a:solidFill>
                  <a:schemeClr val="tx1"/>
                </a:solidFill>
              </a:rPr>
              <a:t>Project Name:  </a:t>
            </a:r>
            <a:r>
              <a:rPr lang="en-US" dirty="0">
                <a:solidFill>
                  <a:schemeClr val="accent1"/>
                </a:solidFill>
              </a:rPr>
              <a:t>IMDB  MOVIES Data Analysis</a:t>
            </a:r>
          </a:p>
          <a:p>
            <a:pPr algn="ctr"/>
            <a:endParaRPr lang="en-US" b="1" dirty="0">
              <a:solidFill>
                <a:schemeClr val="tx1"/>
              </a:solidFill>
            </a:endParaRPr>
          </a:p>
          <a:p>
            <a:pPr algn="ctr"/>
            <a:r>
              <a:rPr lang="en-US" b="1" dirty="0">
                <a:solidFill>
                  <a:schemeClr val="tx1"/>
                </a:solidFill>
              </a:rPr>
              <a:t>Email Id:</a:t>
            </a:r>
            <a:r>
              <a:rPr lang="en-US" dirty="0">
                <a:solidFill>
                  <a:schemeClr val="accent1">
                    <a:lumMod val="50000"/>
                  </a:schemeClr>
                </a:solidFill>
              </a:rPr>
              <a:t>pchowdesh8618@gmail.com ,darshandichi82@gmail.com</a:t>
            </a:r>
          </a:p>
          <a:p>
            <a:pPr algn="ctr"/>
            <a:endParaRPr lang="en-US" b="1" dirty="0">
              <a:solidFill>
                <a:schemeClr val="tx1"/>
              </a:solidFill>
            </a:endParaRPr>
          </a:p>
          <a:p>
            <a:pPr algn="ctr"/>
            <a:r>
              <a:rPr lang="en-US" b="1" dirty="0">
                <a:solidFill>
                  <a:schemeClr val="tx1"/>
                </a:solidFill>
              </a:rPr>
              <a:t>Institute Name: </a:t>
            </a:r>
            <a:r>
              <a:rPr lang="en-US" dirty="0">
                <a:solidFill>
                  <a:schemeClr val="accent1">
                    <a:lumMod val="50000"/>
                  </a:schemeClr>
                </a:solidFill>
              </a:rPr>
              <a:t>Datamites(kudligate branch)</a:t>
            </a:r>
          </a:p>
          <a:p>
            <a:pPr algn="ctr"/>
            <a:endParaRPr lang="en-IN" dirty="0"/>
          </a:p>
        </p:txBody>
      </p:sp>
      <p:pic>
        <p:nvPicPr>
          <p:cNvPr id="5" name="Picture 4">
            <a:extLst>
              <a:ext uri="{FF2B5EF4-FFF2-40B4-BE49-F238E27FC236}">
                <a16:creationId xmlns:a16="http://schemas.microsoft.com/office/drawing/2014/main" id="{EF84796D-E36F-9AF4-58EC-E4B7E511CE5A}"/>
              </a:ext>
            </a:extLst>
          </p:cNvPr>
          <p:cNvPicPr>
            <a:picLocks noChangeAspect="1"/>
          </p:cNvPicPr>
          <p:nvPr/>
        </p:nvPicPr>
        <p:blipFill>
          <a:blip r:embed="rId2"/>
          <a:stretch>
            <a:fillRect/>
          </a:stretch>
        </p:blipFill>
        <p:spPr>
          <a:xfrm>
            <a:off x="10826891" y="-33785"/>
            <a:ext cx="1327761" cy="1430786"/>
          </a:xfrm>
          <a:prstGeom prst="rect">
            <a:avLst/>
          </a:prstGeom>
          <a:effectLst>
            <a:outerShdw blurRad="50800" dist="50800" dir="5400000" algn="ctr" rotWithShape="0">
              <a:schemeClr val="bg1"/>
            </a:outerShdw>
          </a:effectLst>
        </p:spPr>
      </p:pic>
      <p:pic>
        <p:nvPicPr>
          <p:cNvPr id="7" name="Picture 6">
            <a:extLst>
              <a:ext uri="{FF2B5EF4-FFF2-40B4-BE49-F238E27FC236}">
                <a16:creationId xmlns:a16="http://schemas.microsoft.com/office/drawing/2014/main" id="{EBABE036-9C97-28BC-7BEB-1DC3D8124CB8}"/>
              </a:ext>
            </a:extLst>
          </p:cNvPr>
          <p:cNvPicPr>
            <a:picLocks noChangeAspect="1"/>
          </p:cNvPicPr>
          <p:nvPr/>
        </p:nvPicPr>
        <p:blipFill>
          <a:blip r:embed="rId3">
            <a:alphaModFix amt="5000"/>
            <a:extLst>
              <a:ext uri="{BEBA8EAE-BF5A-486C-A8C5-ECC9F3942E4B}">
                <a14:imgProps xmlns:a14="http://schemas.microsoft.com/office/drawing/2010/main">
                  <a14:imgLayer r:embed="rId4">
                    <a14:imgEffect>
                      <a14:artisticGlowEdges/>
                    </a14:imgEffect>
                  </a14:imgLayer>
                </a14:imgProps>
              </a:ext>
            </a:extLst>
          </a:blip>
          <a:stretch>
            <a:fillRect/>
          </a:stretch>
        </p:blipFill>
        <p:spPr>
          <a:xfrm>
            <a:off x="990601" y="1572309"/>
            <a:ext cx="9758464" cy="4039063"/>
          </a:xfrm>
          <a:prstGeom prst="rect">
            <a:avLst/>
          </a:prstGeom>
          <a:ln>
            <a:noFill/>
          </a:ln>
          <a:effectLst>
            <a:softEdge rad="112500"/>
          </a:effectLst>
        </p:spPr>
      </p:pic>
      <p:pic>
        <p:nvPicPr>
          <p:cNvPr id="13" name="Picture 12">
            <a:extLst>
              <a:ext uri="{FF2B5EF4-FFF2-40B4-BE49-F238E27FC236}">
                <a16:creationId xmlns:a16="http://schemas.microsoft.com/office/drawing/2014/main" id="{7BCEAF65-D61D-D18F-6937-51684B17A005}"/>
              </a:ext>
            </a:extLst>
          </p:cNvPr>
          <p:cNvPicPr>
            <a:picLocks noChangeAspect="1"/>
          </p:cNvPicPr>
          <p:nvPr/>
        </p:nvPicPr>
        <p:blipFill>
          <a:blip r:embed="rId5"/>
          <a:stretch>
            <a:fillRect/>
          </a:stretch>
        </p:blipFill>
        <p:spPr>
          <a:xfrm>
            <a:off x="9588089" y="1538523"/>
            <a:ext cx="1638063" cy="2313807"/>
          </a:xfrm>
          <a:prstGeom prst="rect">
            <a:avLst/>
          </a:prstGeom>
          <a:effectLst>
            <a:outerShdw blurRad="50800" dist="50800" dir="5400000" algn="ctr" rotWithShape="0">
              <a:schemeClr val="tx1"/>
            </a:outerShdw>
          </a:effectLst>
        </p:spPr>
      </p:pic>
      <p:pic>
        <p:nvPicPr>
          <p:cNvPr id="15" name="Picture 14">
            <a:extLst>
              <a:ext uri="{FF2B5EF4-FFF2-40B4-BE49-F238E27FC236}">
                <a16:creationId xmlns:a16="http://schemas.microsoft.com/office/drawing/2014/main" id="{1F497B6C-F61A-F6F9-7B9A-12220D1E5570}"/>
              </a:ext>
            </a:extLst>
          </p:cNvPr>
          <p:cNvPicPr>
            <a:picLocks noChangeAspect="1"/>
          </p:cNvPicPr>
          <p:nvPr/>
        </p:nvPicPr>
        <p:blipFill>
          <a:blip r:embed="rId6"/>
          <a:stretch>
            <a:fillRect/>
          </a:stretch>
        </p:blipFill>
        <p:spPr>
          <a:xfrm>
            <a:off x="10635265" y="2959249"/>
            <a:ext cx="1556733" cy="2137779"/>
          </a:xfrm>
          <a:prstGeom prst="rect">
            <a:avLst/>
          </a:prstGeom>
        </p:spPr>
      </p:pic>
      <p:pic>
        <p:nvPicPr>
          <p:cNvPr id="17" name="Picture 16">
            <a:extLst>
              <a:ext uri="{FF2B5EF4-FFF2-40B4-BE49-F238E27FC236}">
                <a16:creationId xmlns:a16="http://schemas.microsoft.com/office/drawing/2014/main" id="{82113497-DE92-0363-291D-119A9B12985C}"/>
              </a:ext>
            </a:extLst>
          </p:cNvPr>
          <p:cNvPicPr>
            <a:picLocks noChangeAspect="1"/>
          </p:cNvPicPr>
          <p:nvPr/>
        </p:nvPicPr>
        <p:blipFill>
          <a:blip r:embed="rId7"/>
          <a:stretch>
            <a:fillRect/>
          </a:stretch>
        </p:blipFill>
        <p:spPr>
          <a:xfrm>
            <a:off x="9826582" y="3591840"/>
            <a:ext cx="1161079" cy="1780124"/>
          </a:xfrm>
          <a:prstGeom prst="rect">
            <a:avLst/>
          </a:prstGeom>
          <a:effectLst>
            <a:outerShdw blurRad="50800" dist="50800" dir="5400000" algn="ctr" rotWithShape="0">
              <a:schemeClr val="tx1"/>
            </a:outerShdw>
          </a:effectLst>
        </p:spPr>
      </p:pic>
      <p:pic>
        <p:nvPicPr>
          <p:cNvPr id="19" name="Picture 18">
            <a:extLst>
              <a:ext uri="{FF2B5EF4-FFF2-40B4-BE49-F238E27FC236}">
                <a16:creationId xmlns:a16="http://schemas.microsoft.com/office/drawing/2014/main" id="{9E122A87-E526-6BFF-FA2F-A4F50DA992C0}"/>
              </a:ext>
            </a:extLst>
          </p:cNvPr>
          <p:cNvPicPr>
            <a:picLocks noChangeAspect="1"/>
          </p:cNvPicPr>
          <p:nvPr/>
        </p:nvPicPr>
        <p:blipFill>
          <a:blip r:embed="rId8"/>
          <a:stretch>
            <a:fillRect/>
          </a:stretch>
        </p:blipFill>
        <p:spPr>
          <a:xfrm>
            <a:off x="10749064" y="5077331"/>
            <a:ext cx="1442935" cy="1766352"/>
          </a:xfrm>
          <a:prstGeom prst="rect">
            <a:avLst/>
          </a:prstGeom>
        </p:spPr>
      </p:pic>
      <p:pic>
        <p:nvPicPr>
          <p:cNvPr id="21" name="Picture 20">
            <a:extLst>
              <a:ext uri="{FF2B5EF4-FFF2-40B4-BE49-F238E27FC236}">
                <a16:creationId xmlns:a16="http://schemas.microsoft.com/office/drawing/2014/main" id="{9C105AE4-5300-DCBC-3434-B6AFE3BE05B7}"/>
              </a:ext>
            </a:extLst>
          </p:cNvPr>
          <p:cNvPicPr>
            <a:picLocks noChangeAspect="1"/>
          </p:cNvPicPr>
          <p:nvPr/>
        </p:nvPicPr>
        <p:blipFill>
          <a:blip r:embed="rId9"/>
          <a:stretch>
            <a:fillRect/>
          </a:stretch>
        </p:blipFill>
        <p:spPr>
          <a:xfrm>
            <a:off x="10826891" y="994041"/>
            <a:ext cx="1342270" cy="1965208"/>
          </a:xfrm>
          <a:prstGeom prst="rect">
            <a:avLst/>
          </a:prstGeom>
        </p:spPr>
      </p:pic>
      <p:pic>
        <p:nvPicPr>
          <p:cNvPr id="23" name="Picture 22">
            <a:extLst>
              <a:ext uri="{FF2B5EF4-FFF2-40B4-BE49-F238E27FC236}">
                <a16:creationId xmlns:a16="http://schemas.microsoft.com/office/drawing/2014/main" id="{04B33CC4-CF98-B828-90E5-1D062F00C521}"/>
              </a:ext>
            </a:extLst>
          </p:cNvPr>
          <p:cNvPicPr>
            <a:picLocks noChangeAspect="1"/>
          </p:cNvPicPr>
          <p:nvPr/>
        </p:nvPicPr>
        <p:blipFill>
          <a:blip r:embed="rId10"/>
          <a:stretch>
            <a:fillRect/>
          </a:stretch>
        </p:blipFill>
        <p:spPr>
          <a:xfrm>
            <a:off x="9561430" y="0"/>
            <a:ext cx="1283632" cy="1628931"/>
          </a:xfrm>
          <a:prstGeom prst="rect">
            <a:avLst/>
          </a:prstGeom>
          <a:effectLst>
            <a:outerShdw blurRad="50800" dist="38100" dir="5400000" algn="t" rotWithShape="0">
              <a:schemeClr val="bg1">
                <a:alpha val="40000"/>
              </a:schemeClr>
            </a:outerShdw>
          </a:effectLst>
        </p:spPr>
      </p:pic>
      <p:pic>
        <p:nvPicPr>
          <p:cNvPr id="25" name="Picture 24">
            <a:extLst>
              <a:ext uri="{FF2B5EF4-FFF2-40B4-BE49-F238E27FC236}">
                <a16:creationId xmlns:a16="http://schemas.microsoft.com/office/drawing/2014/main" id="{2FC49997-DE73-893D-46FB-A1A97DFF9F47}"/>
              </a:ext>
            </a:extLst>
          </p:cNvPr>
          <p:cNvPicPr>
            <a:picLocks noChangeAspect="1"/>
          </p:cNvPicPr>
          <p:nvPr/>
        </p:nvPicPr>
        <p:blipFill>
          <a:blip r:embed="rId11"/>
          <a:stretch>
            <a:fillRect/>
          </a:stretch>
        </p:blipFill>
        <p:spPr>
          <a:xfrm>
            <a:off x="79321" y="2730612"/>
            <a:ext cx="2762807" cy="4113071"/>
          </a:xfrm>
          <a:prstGeom prst="rect">
            <a:avLst/>
          </a:prstGeom>
        </p:spPr>
      </p:pic>
      <p:pic>
        <p:nvPicPr>
          <p:cNvPr id="27" name="Picture 26">
            <a:extLst>
              <a:ext uri="{FF2B5EF4-FFF2-40B4-BE49-F238E27FC236}">
                <a16:creationId xmlns:a16="http://schemas.microsoft.com/office/drawing/2014/main" id="{AD8FD84F-4396-379D-983C-B81F4725099F}"/>
              </a:ext>
            </a:extLst>
          </p:cNvPr>
          <p:cNvPicPr>
            <a:picLocks noChangeAspect="1"/>
          </p:cNvPicPr>
          <p:nvPr/>
        </p:nvPicPr>
        <p:blipFill>
          <a:blip r:embed="rId12"/>
          <a:stretch>
            <a:fillRect/>
          </a:stretch>
        </p:blipFill>
        <p:spPr>
          <a:xfrm>
            <a:off x="37245" y="3340503"/>
            <a:ext cx="1620123" cy="2334773"/>
          </a:xfrm>
          <a:prstGeom prst="rect">
            <a:avLst/>
          </a:prstGeom>
        </p:spPr>
      </p:pic>
      <p:pic>
        <p:nvPicPr>
          <p:cNvPr id="29" name="Picture 28">
            <a:extLst>
              <a:ext uri="{FF2B5EF4-FFF2-40B4-BE49-F238E27FC236}">
                <a16:creationId xmlns:a16="http://schemas.microsoft.com/office/drawing/2014/main" id="{EEC3E850-EB73-F41F-2F6B-A69C133D5E60}"/>
              </a:ext>
            </a:extLst>
          </p:cNvPr>
          <p:cNvPicPr>
            <a:picLocks noChangeAspect="1"/>
          </p:cNvPicPr>
          <p:nvPr/>
        </p:nvPicPr>
        <p:blipFill>
          <a:blip r:embed="rId13"/>
          <a:stretch>
            <a:fillRect/>
          </a:stretch>
        </p:blipFill>
        <p:spPr>
          <a:xfrm>
            <a:off x="37246" y="2051451"/>
            <a:ext cx="2014678" cy="1930791"/>
          </a:xfrm>
          <a:prstGeom prst="rect">
            <a:avLst/>
          </a:prstGeom>
        </p:spPr>
      </p:pic>
      <p:pic>
        <p:nvPicPr>
          <p:cNvPr id="31" name="Picture 30">
            <a:extLst>
              <a:ext uri="{FF2B5EF4-FFF2-40B4-BE49-F238E27FC236}">
                <a16:creationId xmlns:a16="http://schemas.microsoft.com/office/drawing/2014/main" id="{83245ED5-5741-6DE8-D046-8073F4818902}"/>
              </a:ext>
            </a:extLst>
          </p:cNvPr>
          <p:cNvPicPr>
            <a:picLocks noChangeAspect="1"/>
          </p:cNvPicPr>
          <p:nvPr/>
        </p:nvPicPr>
        <p:blipFill>
          <a:blip r:embed="rId14"/>
          <a:stretch>
            <a:fillRect/>
          </a:stretch>
        </p:blipFill>
        <p:spPr>
          <a:xfrm>
            <a:off x="-22759" y="14317"/>
            <a:ext cx="1695916" cy="2237153"/>
          </a:xfrm>
          <a:prstGeom prst="rect">
            <a:avLst/>
          </a:prstGeom>
        </p:spPr>
      </p:pic>
    </p:spTree>
    <p:extLst>
      <p:ext uri="{BB962C8B-B14F-4D97-AF65-F5344CB8AC3E}">
        <p14:creationId xmlns:p14="http://schemas.microsoft.com/office/powerpoint/2010/main" val="3669577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56F407-08A6-EE8D-77F3-A09FC50E1778}"/>
              </a:ext>
            </a:extLst>
          </p:cNvPr>
          <p:cNvSpPr txBox="1"/>
          <p:nvPr/>
        </p:nvSpPr>
        <p:spPr>
          <a:xfrm>
            <a:off x="963038" y="314503"/>
            <a:ext cx="9963286" cy="523220"/>
          </a:xfrm>
          <a:prstGeom prst="rect">
            <a:avLst/>
          </a:prstGeom>
          <a:solidFill>
            <a:schemeClr val="bg1"/>
          </a:solidFill>
        </p:spPr>
        <p:txBody>
          <a:bodyPr wrap="square" rtlCol="0">
            <a:spAutoFit/>
          </a:bodyPr>
          <a:lstStyle/>
          <a:p>
            <a:pPr algn="ctr"/>
            <a:r>
              <a:rPr lang="en-IN" sz="2800" dirty="0"/>
              <a:t>Project Objective</a:t>
            </a:r>
          </a:p>
        </p:txBody>
      </p:sp>
      <p:sp>
        <p:nvSpPr>
          <p:cNvPr id="5" name="TextBox 4">
            <a:extLst>
              <a:ext uri="{FF2B5EF4-FFF2-40B4-BE49-F238E27FC236}">
                <a16:creationId xmlns:a16="http://schemas.microsoft.com/office/drawing/2014/main" id="{9C4BC94E-C66D-6A15-436C-499B36846598}"/>
              </a:ext>
            </a:extLst>
          </p:cNvPr>
          <p:cNvSpPr txBox="1"/>
          <p:nvPr/>
        </p:nvSpPr>
        <p:spPr>
          <a:xfrm>
            <a:off x="398834" y="1400783"/>
            <a:ext cx="11381362" cy="5262979"/>
          </a:xfrm>
          <a:prstGeom prst="rect">
            <a:avLst/>
          </a:prstGeom>
          <a:solidFill>
            <a:schemeClr val="bg2">
              <a:lumMod val="90000"/>
            </a:schemeClr>
          </a:solidFill>
        </p:spPr>
        <p:txBody>
          <a:bodyPr wrap="square" rtlCol="0">
            <a:spAutoFit/>
          </a:bodyPr>
          <a:lstStyle/>
          <a:p>
            <a:r>
              <a:rPr lang="en-US" sz="2400" dirty="0"/>
              <a:t>              The objective of this project is to analyze movie performance using key factors such as budget, revenue, ratings, and director contributions. The analysis aims to identify patterns and trends that influence the success of movies, evaluate financial performance, and understand the impact of directors and production strategies. The insights derived from this project will help support data-driven decision-making and improve future investment and planning in the movie industry</a:t>
            </a:r>
          </a:p>
          <a:p>
            <a:endParaRPr lang="en-US" sz="2400" b="1" dirty="0"/>
          </a:p>
          <a:p>
            <a:r>
              <a:rPr lang="en-US" sz="2400" b="1" u="sng" dirty="0"/>
              <a:t>To Analysis:-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Analyze overall movie performance using key KPIs </a:t>
            </a:r>
          </a:p>
          <a:p>
            <a:pPr marL="342900" indent="-342900">
              <a:buFont typeface="Arial" panose="020B0604020202020204" pitchFamily="34" charset="0"/>
              <a:buChar char="•"/>
            </a:pPr>
            <a:r>
              <a:rPr lang="en-US" sz="2400" dirty="0"/>
              <a:t>Identify factors driving revenue and success </a:t>
            </a:r>
          </a:p>
          <a:p>
            <a:pPr marL="342900" indent="-342900">
              <a:buFont typeface="Arial" panose="020B0604020202020204" pitchFamily="34" charset="0"/>
              <a:buChar char="•"/>
            </a:pPr>
            <a:r>
              <a:rPr lang="en-US" sz="2400" dirty="0"/>
              <a:t>Evaluate the impact of directors on movie performance </a:t>
            </a:r>
          </a:p>
          <a:p>
            <a:pPr marL="342900" indent="-342900">
              <a:buFont typeface="Arial" panose="020B0604020202020204" pitchFamily="34" charset="0"/>
              <a:buChar char="•"/>
            </a:pPr>
            <a:r>
              <a:rPr lang="en-US" sz="2400" dirty="0"/>
              <a:t>Understand trends in movie production over time </a:t>
            </a:r>
          </a:p>
          <a:p>
            <a:pPr marL="342900" indent="-342900">
              <a:buFont typeface="Arial" panose="020B0604020202020204" pitchFamily="34" charset="0"/>
              <a:buChar char="•"/>
            </a:pPr>
            <a:r>
              <a:rPr lang="en-US" sz="2400" dirty="0"/>
              <a:t>Provide insights for better investment decisions </a:t>
            </a:r>
          </a:p>
        </p:txBody>
      </p:sp>
      <p:pic>
        <p:nvPicPr>
          <p:cNvPr id="7" name="Picture 6">
            <a:extLst>
              <a:ext uri="{FF2B5EF4-FFF2-40B4-BE49-F238E27FC236}">
                <a16:creationId xmlns:a16="http://schemas.microsoft.com/office/drawing/2014/main" id="{24A18C0B-055B-4E23-0BD8-7BCC22251F98}"/>
              </a:ext>
            </a:extLst>
          </p:cNvPr>
          <p:cNvPicPr>
            <a:picLocks noChangeAspect="1"/>
          </p:cNvPicPr>
          <p:nvPr/>
        </p:nvPicPr>
        <p:blipFill>
          <a:blip r:embed="rId3"/>
          <a:stretch>
            <a:fillRect/>
          </a:stretch>
        </p:blipFill>
        <p:spPr>
          <a:xfrm>
            <a:off x="8103141" y="3298256"/>
            <a:ext cx="2347556" cy="3559743"/>
          </a:xfrm>
          <a:prstGeom prst="rect">
            <a:avLst/>
          </a:prstGeom>
        </p:spPr>
      </p:pic>
      <p:pic>
        <p:nvPicPr>
          <p:cNvPr id="8" name="Picture 7">
            <a:extLst>
              <a:ext uri="{FF2B5EF4-FFF2-40B4-BE49-F238E27FC236}">
                <a16:creationId xmlns:a16="http://schemas.microsoft.com/office/drawing/2014/main" id="{0DC7F347-96D2-7B15-E1D5-EA2359098FD9}"/>
              </a:ext>
            </a:extLst>
          </p:cNvPr>
          <p:cNvPicPr>
            <a:picLocks noChangeAspect="1"/>
          </p:cNvPicPr>
          <p:nvPr/>
        </p:nvPicPr>
        <p:blipFill>
          <a:blip r:embed="rId4"/>
          <a:stretch>
            <a:fillRect/>
          </a:stretch>
        </p:blipFill>
        <p:spPr>
          <a:xfrm>
            <a:off x="10450696" y="5121034"/>
            <a:ext cx="1741304" cy="1736966"/>
          </a:xfrm>
          <a:prstGeom prst="rect">
            <a:avLst/>
          </a:prstGeom>
        </p:spPr>
      </p:pic>
      <p:pic>
        <p:nvPicPr>
          <p:cNvPr id="9" name="Picture 8">
            <a:extLst>
              <a:ext uri="{FF2B5EF4-FFF2-40B4-BE49-F238E27FC236}">
                <a16:creationId xmlns:a16="http://schemas.microsoft.com/office/drawing/2014/main" id="{3CCFD57A-0572-2818-1CBA-78790362F8FA}"/>
              </a:ext>
            </a:extLst>
          </p:cNvPr>
          <p:cNvPicPr>
            <a:picLocks noChangeAspect="1"/>
          </p:cNvPicPr>
          <p:nvPr/>
        </p:nvPicPr>
        <p:blipFill>
          <a:blip r:embed="rId5"/>
          <a:stretch>
            <a:fillRect/>
          </a:stretch>
        </p:blipFill>
        <p:spPr>
          <a:xfrm>
            <a:off x="9963284" y="3298256"/>
            <a:ext cx="2228716" cy="2446506"/>
          </a:xfrm>
          <a:prstGeom prst="rect">
            <a:avLst/>
          </a:prstGeom>
        </p:spPr>
      </p:pic>
    </p:spTree>
    <p:extLst>
      <p:ext uri="{BB962C8B-B14F-4D97-AF65-F5344CB8AC3E}">
        <p14:creationId xmlns:p14="http://schemas.microsoft.com/office/powerpoint/2010/main" val="748696368"/>
      </p:ext>
    </p:extLst>
  </p:cSld>
  <p:clrMapOvr>
    <a:masterClrMapping/>
  </p:clrMapOvr>
  <mc:AlternateContent xmlns:mc="http://schemas.openxmlformats.org/markup-compatibility/2006">
    <mc:Choice xmlns:p14="http://schemas.microsoft.com/office/powerpoint/2010/main" Requires="p14">
      <p:transition spd="slow" p14:dur="2000" advTm="57464"/>
    </mc:Choice>
    <mc:Fallback>
      <p:transition spd="slow" advTm="5746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82000"/>
          </a:schemeClr>
        </a:solidFill>
        <a:effectLst/>
      </p:bgPr>
    </p:bg>
    <p:spTree>
      <p:nvGrpSpPr>
        <p:cNvPr id="1" name="">
          <a:extLst>
            <a:ext uri="{FF2B5EF4-FFF2-40B4-BE49-F238E27FC236}">
              <a16:creationId xmlns:a16="http://schemas.microsoft.com/office/drawing/2014/main" id="{5A679641-6D5B-7C9C-AAF0-EEFD5110E6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464EE4-BFC1-4DB0-1402-A13BD5F86F6F}"/>
              </a:ext>
            </a:extLst>
          </p:cNvPr>
          <p:cNvSpPr txBox="1"/>
          <p:nvPr/>
        </p:nvSpPr>
        <p:spPr>
          <a:xfrm>
            <a:off x="1391055" y="236704"/>
            <a:ext cx="9144000" cy="461665"/>
          </a:xfrm>
          <a:prstGeom prst="rect">
            <a:avLst/>
          </a:prstGeom>
          <a:solidFill>
            <a:schemeClr val="bg1"/>
          </a:solidFill>
        </p:spPr>
        <p:txBody>
          <a:bodyPr wrap="square" rtlCol="0">
            <a:spAutoFit/>
          </a:bodyPr>
          <a:lstStyle/>
          <a:p>
            <a:pPr algn="ctr"/>
            <a:r>
              <a:rPr lang="en-IN" sz="2400" b="1" dirty="0"/>
              <a:t>Dataset Overview</a:t>
            </a:r>
          </a:p>
        </p:txBody>
      </p:sp>
      <p:sp>
        <p:nvSpPr>
          <p:cNvPr id="4" name="TextBox 3">
            <a:extLst>
              <a:ext uri="{FF2B5EF4-FFF2-40B4-BE49-F238E27FC236}">
                <a16:creationId xmlns:a16="http://schemas.microsoft.com/office/drawing/2014/main" id="{B63E71F9-166B-BA91-BA27-C933118AEE74}"/>
              </a:ext>
            </a:extLst>
          </p:cNvPr>
          <p:cNvSpPr txBox="1"/>
          <p:nvPr/>
        </p:nvSpPr>
        <p:spPr>
          <a:xfrm>
            <a:off x="1157591" y="1400784"/>
            <a:ext cx="9863847" cy="3139321"/>
          </a:xfrm>
          <a:prstGeom prst="rect">
            <a:avLst/>
          </a:prstGeom>
          <a:solidFill>
            <a:schemeClr val="bg1">
              <a:lumMod val="85000"/>
            </a:schemeClr>
          </a:solidFill>
        </p:spPr>
        <p:txBody>
          <a:bodyPr wrap="square" rtlCol="0">
            <a:spAutoFit/>
          </a:bodyPr>
          <a:lstStyle/>
          <a:p>
            <a:r>
              <a:rPr lang="en-US" b="1" u="sng" dirty="0"/>
              <a:t>About Dataset :-</a:t>
            </a:r>
          </a:p>
          <a:p>
            <a:r>
              <a:rPr lang="en-US" b="1" dirty="0"/>
              <a:t>        </a:t>
            </a:r>
          </a:p>
          <a:p>
            <a:r>
              <a:rPr lang="en-US" b="1" dirty="0"/>
              <a:t>          The dataset used in this project consists of two main tables: Movies and Directors. The Movies table includes key attributes such as movie title, budget, revenue, popularity, release date, vote average (rating), and vote count. The Directors table contains information about director name, gender, and department. These two tables are connected using a common director ID to enable combined analysis. </a:t>
            </a:r>
          </a:p>
          <a:p>
            <a:endParaRPr lang="en-US" b="1" dirty="0"/>
          </a:p>
          <a:p>
            <a:r>
              <a:rPr lang="en-US" b="1" dirty="0"/>
              <a:t>The dataset contains a total of 47 movies with a total budget of 10 billion and total revenue of 39 billion. This structured dataset allows analysis of movie performance, director impact, and overall industry trends.</a:t>
            </a:r>
            <a:endParaRPr lang="en-IN" b="1" dirty="0"/>
          </a:p>
        </p:txBody>
      </p:sp>
      <p:pic>
        <p:nvPicPr>
          <p:cNvPr id="5" name="Picture 4">
            <a:extLst>
              <a:ext uri="{FF2B5EF4-FFF2-40B4-BE49-F238E27FC236}">
                <a16:creationId xmlns:a16="http://schemas.microsoft.com/office/drawing/2014/main" id="{1FD5AFCD-CF29-A558-00F3-D3EEE3E8E8F4}"/>
              </a:ext>
            </a:extLst>
          </p:cNvPr>
          <p:cNvPicPr>
            <a:picLocks noChangeAspect="1"/>
          </p:cNvPicPr>
          <p:nvPr/>
        </p:nvPicPr>
        <p:blipFill>
          <a:blip r:embed="rId2"/>
          <a:stretch>
            <a:fillRect/>
          </a:stretch>
        </p:blipFill>
        <p:spPr>
          <a:xfrm>
            <a:off x="1954477" y="4540105"/>
            <a:ext cx="1986826" cy="2317895"/>
          </a:xfrm>
          <a:prstGeom prst="rect">
            <a:avLst/>
          </a:prstGeom>
        </p:spPr>
      </p:pic>
      <p:pic>
        <p:nvPicPr>
          <p:cNvPr id="8" name="Picture 7">
            <a:extLst>
              <a:ext uri="{FF2B5EF4-FFF2-40B4-BE49-F238E27FC236}">
                <a16:creationId xmlns:a16="http://schemas.microsoft.com/office/drawing/2014/main" id="{1BD9EE14-A202-5574-91F7-69252468D93E}"/>
              </a:ext>
            </a:extLst>
          </p:cNvPr>
          <p:cNvPicPr>
            <a:picLocks noChangeAspect="1"/>
          </p:cNvPicPr>
          <p:nvPr/>
        </p:nvPicPr>
        <p:blipFill>
          <a:blip r:embed="rId3"/>
          <a:stretch>
            <a:fillRect/>
          </a:stretch>
        </p:blipFill>
        <p:spPr>
          <a:xfrm>
            <a:off x="0" y="4620638"/>
            <a:ext cx="1947938" cy="2212234"/>
          </a:xfrm>
          <a:prstGeom prst="rect">
            <a:avLst/>
          </a:prstGeom>
        </p:spPr>
      </p:pic>
      <p:pic>
        <p:nvPicPr>
          <p:cNvPr id="9" name="Picture 8">
            <a:extLst>
              <a:ext uri="{FF2B5EF4-FFF2-40B4-BE49-F238E27FC236}">
                <a16:creationId xmlns:a16="http://schemas.microsoft.com/office/drawing/2014/main" id="{8DB50E04-D75A-69CA-7682-56080671C818}"/>
              </a:ext>
            </a:extLst>
          </p:cNvPr>
          <p:cNvPicPr>
            <a:picLocks noChangeAspect="1"/>
          </p:cNvPicPr>
          <p:nvPr/>
        </p:nvPicPr>
        <p:blipFill>
          <a:blip r:embed="rId4"/>
          <a:stretch>
            <a:fillRect/>
          </a:stretch>
        </p:blipFill>
        <p:spPr>
          <a:xfrm>
            <a:off x="3941303" y="4540105"/>
            <a:ext cx="1707672" cy="2311607"/>
          </a:xfrm>
          <a:prstGeom prst="rect">
            <a:avLst/>
          </a:prstGeom>
        </p:spPr>
      </p:pic>
      <p:pic>
        <p:nvPicPr>
          <p:cNvPr id="11" name="Picture 10">
            <a:extLst>
              <a:ext uri="{FF2B5EF4-FFF2-40B4-BE49-F238E27FC236}">
                <a16:creationId xmlns:a16="http://schemas.microsoft.com/office/drawing/2014/main" id="{C40C31A9-1837-F011-A163-E4DFEE0B03E0}"/>
              </a:ext>
            </a:extLst>
          </p:cNvPr>
          <p:cNvPicPr>
            <a:picLocks noChangeAspect="1"/>
          </p:cNvPicPr>
          <p:nvPr/>
        </p:nvPicPr>
        <p:blipFill>
          <a:blip r:embed="rId5"/>
          <a:stretch>
            <a:fillRect/>
          </a:stretch>
        </p:blipFill>
        <p:spPr>
          <a:xfrm>
            <a:off x="5648975" y="4540105"/>
            <a:ext cx="1325757" cy="2237153"/>
          </a:xfrm>
          <a:prstGeom prst="rect">
            <a:avLst/>
          </a:prstGeom>
          <a:effectLst>
            <a:outerShdw blurRad="50800" dist="50800" dir="5400000" algn="ctr" rotWithShape="0">
              <a:schemeClr val="tx1"/>
            </a:outerShdw>
          </a:effectLst>
        </p:spPr>
      </p:pic>
      <p:pic>
        <p:nvPicPr>
          <p:cNvPr id="12" name="Picture 11">
            <a:extLst>
              <a:ext uri="{FF2B5EF4-FFF2-40B4-BE49-F238E27FC236}">
                <a16:creationId xmlns:a16="http://schemas.microsoft.com/office/drawing/2014/main" id="{5EC45002-4AF1-DEA0-5AF2-37833CA9E5DC}"/>
              </a:ext>
            </a:extLst>
          </p:cNvPr>
          <p:cNvPicPr>
            <a:picLocks noChangeAspect="1"/>
          </p:cNvPicPr>
          <p:nvPr/>
        </p:nvPicPr>
        <p:blipFill>
          <a:blip r:embed="rId6"/>
          <a:stretch>
            <a:fillRect/>
          </a:stretch>
        </p:blipFill>
        <p:spPr>
          <a:xfrm>
            <a:off x="6974732" y="4540105"/>
            <a:ext cx="1429966" cy="2317895"/>
          </a:xfrm>
          <a:prstGeom prst="rect">
            <a:avLst/>
          </a:prstGeom>
        </p:spPr>
      </p:pic>
      <p:pic>
        <p:nvPicPr>
          <p:cNvPr id="13" name="Picture 12">
            <a:extLst>
              <a:ext uri="{FF2B5EF4-FFF2-40B4-BE49-F238E27FC236}">
                <a16:creationId xmlns:a16="http://schemas.microsoft.com/office/drawing/2014/main" id="{7E1EBF5A-651B-6192-F97B-9A61BD29CBC4}"/>
              </a:ext>
            </a:extLst>
          </p:cNvPr>
          <p:cNvPicPr>
            <a:picLocks noChangeAspect="1"/>
          </p:cNvPicPr>
          <p:nvPr/>
        </p:nvPicPr>
        <p:blipFill>
          <a:blip r:embed="rId7"/>
          <a:stretch>
            <a:fillRect/>
          </a:stretch>
        </p:blipFill>
        <p:spPr>
          <a:xfrm>
            <a:off x="8404698" y="4540105"/>
            <a:ext cx="1620057" cy="2292767"/>
          </a:xfrm>
          <a:prstGeom prst="rect">
            <a:avLst/>
          </a:prstGeom>
        </p:spPr>
      </p:pic>
      <p:pic>
        <p:nvPicPr>
          <p:cNvPr id="15" name="Picture 14">
            <a:extLst>
              <a:ext uri="{FF2B5EF4-FFF2-40B4-BE49-F238E27FC236}">
                <a16:creationId xmlns:a16="http://schemas.microsoft.com/office/drawing/2014/main" id="{C43FC997-0591-AFE1-6CBB-29D2AE576E48}"/>
              </a:ext>
            </a:extLst>
          </p:cNvPr>
          <p:cNvPicPr>
            <a:picLocks noChangeAspect="1"/>
          </p:cNvPicPr>
          <p:nvPr/>
        </p:nvPicPr>
        <p:blipFill>
          <a:blip r:embed="rId8"/>
          <a:stretch>
            <a:fillRect/>
          </a:stretch>
        </p:blipFill>
        <p:spPr>
          <a:xfrm>
            <a:off x="10024755" y="4591767"/>
            <a:ext cx="1993365" cy="2259945"/>
          </a:xfrm>
          <a:prstGeom prst="rect">
            <a:avLst/>
          </a:prstGeom>
        </p:spPr>
      </p:pic>
      <p:pic>
        <p:nvPicPr>
          <p:cNvPr id="16" name="Picture 15">
            <a:extLst>
              <a:ext uri="{FF2B5EF4-FFF2-40B4-BE49-F238E27FC236}">
                <a16:creationId xmlns:a16="http://schemas.microsoft.com/office/drawing/2014/main" id="{E5B36DA5-6B11-C715-10BF-ECFED0709171}"/>
              </a:ext>
            </a:extLst>
          </p:cNvPr>
          <p:cNvPicPr>
            <a:picLocks noChangeAspect="1"/>
          </p:cNvPicPr>
          <p:nvPr/>
        </p:nvPicPr>
        <p:blipFill>
          <a:blip r:embed="rId9"/>
          <a:stretch>
            <a:fillRect/>
          </a:stretch>
        </p:blipFill>
        <p:spPr>
          <a:xfrm>
            <a:off x="0" y="2024907"/>
            <a:ext cx="1133199" cy="2566860"/>
          </a:xfrm>
          <a:prstGeom prst="rect">
            <a:avLst/>
          </a:prstGeom>
          <a:effectLst>
            <a:outerShdw blurRad="50800" dist="50800" dir="5400000" algn="ctr" rotWithShape="0">
              <a:schemeClr val="tx1"/>
            </a:outerShdw>
          </a:effectLst>
        </p:spPr>
      </p:pic>
      <p:pic>
        <p:nvPicPr>
          <p:cNvPr id="17" name="Picture 16">
            <a:extLst>
              <a:ext uri="{FF2B5EF4-FFF2-40B4-BE49-F238E27FC236}">
                <a16:creationId xmlns:a16="http://schemas.microsoft.com/office/drawing/2014/main" id="{3017E469-F1E9-1BD8-EAA8-31B63A79E899}"/>
              </a:ext>
            </a:extLst>
          </p:cNvPr>
          <p:cNvPicPr>
            <a:picLocks noChangeAspect="1"/>
          </p:cNvPicPr>
          <p:nvPr/>
        </p:nvPicPr>
        <p:blipFill>
          <a:blip r:embed="rId10"/>
          <a:stretch>
            <a:fillRect/>
          </a:stretch>
        </p:blipFill>
        <p:spPr>
          <a:xfrm>
            <a:off x="11034409" y="2402326"/>
            <a:ext cx="1073286" cy="2137779"/>
          </a:xfrm>
          <a:prstGeom prst="rect">
            <a:avLst/>
          </a:prstGeom>
        </p:spPr>
      </p:pic>
      <p:pic>
        <p:nvPicPr>
          <p:cNvPr id="19" name="Picture 18">
            <a:extLst>
              <a:ext uri="{FF2B5EF4-FFF2-40B4-BE49-F238E27FC236}">
                <a16:creationId xmlns:a16="http://schemas.microsoft.com/office/drawing/2014/main" id="{55C450DB-4DFF-793A-982B-5B39C2FB2987}"/>
              </a:ext>
            </a:extLst>
          </p:cNvPr>
          <p:cNvPicPr>
            <a:picLocks noChangeAspect="1"/>
          </p:cNvPicPr>
          <p:nvPr/>
        </p:nvPicPr>
        <p:blipFill>
          <a:blip r:embed="rId11"/>
          <a:stretch>
            <a:fillRect/>
          </a:stretch>
        </p:blipFill>
        <p:spPr>
          <a:xfrm>
            <a:off x="11004452" y="1"/>
            <a:ext cx="1187548" cy="2299000"/>
          </a:xfrm>
          <a:prstGeom prst="rect">
            <a:avLst/>
          </a:prstGeom>
        </p:spPr>
      </p:pic>
      <p:pic>
        <p:nvPicPr>
          <p:cNvPr id="20" name="Picture 19">
            <a:extLst>
              <a:ext uri="{FF2B5EF4-FFF2-40B4-BE49-F238E27FC236}">
                <a16:creationId xmlns:a16="http://schemas.microsoft.com/office/drawing/2014/main" id="{329ED6E3-015D-662E-F5EB-F2B6E30C1AD7}"/>
              </a:ext>
            </a:extLst>
          </p:cNvPr>
          <p:cNvPicPr>
            <a:picLocks noChangeAspect="1"/>
          </p:cNvPicPr>
          <p:nvPr/>
        </p:nvPicPr>
        <p:blipFill>
          <a:blip r:embed="rId11"/>
          <a:stretch>
            <a:fillRect/>
          </a:stretch>
        </p:blipFill>
        <p:spPr>
          <a:xfrm>
            <a:off x="-24246" y="0"/>
            <a:ext cx="1133199" cy="1996036"/>
          </a:xfrm>
          <a:prstGeom prst="rect">
            <a:avLst/>
          </a:prstGeom>
        </p:spPr>
      </p:pic>
    </p:spTree>
    <p:extLst>
      <p:ext uri="{BB962C8B-B14F-4D97-AF65-F5344CB8AC3E}">
        <p14:creationId xmlns:p14="http://schemas.microsoft.com/office/powerpoint/2010/main" val="3859996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C59364-F13C-B423-A276-01653B346CB9}"/>
              </a:ext>
            </a:extLst>
          </p:cNvPr>
          <p:cNvSpPr txBox="1"/>
          <p:nvPr/>
        </p:nvSpPr>
        <p:spPr>
          <a:xfrm>
            <a:off x="1820693" y="184827"/>
            <a:ext cx="8375515" cy="738664"/>
          </a:xfrm>
          <a:prstGeom prst="rect">
            <a:avLst/>
          </a:prstGeom>
          <a:solidFill>
            <a:schemeClr val="bg1"/>
          </a:solidFill>
        </p:spPr>
        <p:txBody>
          <a:bodyPr wrap="square" rtlCol="0">
            <a:spAutoFit/>
          </a:bodyPr>
          <a:lstStyle/>
          <a:p>
            <a:pPr algn="ctr"/>
            <a:r>
              <a:rPr lang="en-IN" sz="2400" b="1" u="sng" dirty="0"/>
              <a:t>Attribute Information</a:t>
            </a:r>
            <a:r>
              <a:rPr lang="en-IN" u="sng" dirty="0"/>
              <a:t>:</a:t>
            </a:r>
            <a:endParaRPr lang="en-IN" dirty="0"/>
          </a:p>
          <a:p>
            <a:endParaRPr lang="en-IN" dirty="0"/>
          </a:p>
        </p:txBody>
      </p:sp>
      <p:sp>
        <p:nvSpPr>
          <p:cNvPr id="3" name="TextBox 2">
            <a:extLst>
              <a:ext uri="{FF2B5EF4-FFF2-40B4-BE49-F238E27FC236}">
                <a16:creationId xmlns:a16="http://schemas.microsoft.com/office/drawing/2014/main" id="{73249B4F-E2C6-5A7E-9EF1-8AB9AA09804C}"/>
              </a:ext>
            </a:extLst>
          </p:cNvPr>
          <p:cNvSpPr txBox="1"/>
          <p:nvPr/>
        </p:nvSpPr>
        <p:spPr>
          <a:xfrm>
            <a:off x="554477" y="1420238"/>
            <a:ext cx="10885252" cy="5262979"/>
          </a:xfrm>
          <a:prstGeom prst="rect">
            <a:avLst/>
          </a:prstGeom>
          <a:solidFill>
            <a:schemeClr val="bg2">
              <a:lumMod val="90000"/>
            </a:schemeClr>
          </a:solidFill>
        </p:spPr>
        <p:txBody>
          <a:bodyPr wrap="square" rtlCol="0">
            <a:spAutoFit/>
          </a:bodyPr>
          <a:lstStyle/>
          <a:p>
            <a:r>
              <a:rPr lang="en-IN" b="1" u="sng" dirty="0"/>
              <a:t>Table Directors:</a:t>
            </a:r>
            <a:endParaRPr lang="en-IN" u="sng" dirty="0"/>
          </a:p>
          <a:p>
            <a:endParaRPr lang="en-IN" sz="1200" dirty="0"/>
          </a:p>
          <a:p>
            <a:r>
              <a:rPr lang="en-IN" sz="1400" b="1" dirty="0"/>
              <a:t>Name</a:t>
            </a:r>
            <a:r>
              <a:rPr lang="en-IN" sz="1400" dirty="0"/>
              <a:t>: Name of the Director</a:t>
            </a:r>
          </a:p>
          <a:p>
            <a:r>
              <a:rPr lang="en-IN" sz="1400" b="1" dirty="0"/>
              <a:t>ID: </a:t>
            </a:r>
            <a:r>
              <a:rPr lang="en-IN" sz="1400" dirty="0"/>
              <a:t>Unique ID of the Directors</a:t>
            </a:r>
          </a:p>
          <a:p>
            <a:r>
              <a:rPr lang="en-IN" sz="1400" b="1" dirty="0"/>
              <a:t>Gender: </a:t>
            </a:r>
            <a:r>
              <a:rPr lang="en-IN" sz="1400" dirty="0"/>
              <a:t>Gender of the Director→ 0/2=Male, 1=Female</a:t>
            </a:r>
          </a:p>
          <a:p>
            <a:r>
              <a:rPr lang="en-IN" sz="1400" b="1" dirty="0"/>
              <a:t>Department</a:t>
            </a:r>
            <a:r>
              <a:rPr lang="en-IN" sz="1400" dirty="0"/>
              <a:t>: Department of the Directors.</a:t>
            </a:r>
          </a:p>
          <a:p>
            <a:endParaRPr lang="en-IN" b="1" u="sng" dirty="0"/>
          </a:p>
          <a:p>
            <a:r>
              <a:rPr lang="en-IN" b="1" u="sng" dirty="0"/>
              <a:t>Table Movies:</a:t>
            </a:r>
            <a:endParaRPr lang="en-IN" u="sng" dirty="0"/>
          </a:p>
          <a:p>
            <a:endParaRPr lang="en-IN" sz="1400" dirty="0"/>
          </a:p>
          <a:p>
            <a:r>
              <a:rPr lang="en-IN" sz="1400" b="1" dirty="0"/>
              <a:t>ID: </a:t>
            </a:r>
            <a:r>
              <a:rPr lang="en-IN" sz="1400" dirty="0"/>
              <a:t>Unique Id for Movies</a:t>
            </a:r>
          </a:p>
          <a:p>
            <a:r>
              <a:rPr lang="en-IN" sz="1400" b="1" dirty="0"/>
              <a:t>Original title: </a:t>
            </a:r>
            <a:r>
              <a:rPr lang="en-IN" sz="1400" dirty="0"/>
              <a:t>Movie name</a:t>
            </a:r>
          </a:p>
          <a:p>
            <a:r>
              <a:rPr lang="en-IN" sz="1400" b="1" dirty="0"/>
              <a:t>Budget: </a:t>
            </a:r>
            <a:r>
              <a:rPr lang="en-IN" sz="1400" dirty="0"/>
              <a:t>Budget of the movie</a:t>
            </a:r>
          </a:p>
          <a:p>
            <a:r>
              <a:rPr lang="en-IN" sz="1400" b="1" dirty="0"/>
              <a:t>Popularity: </a:t>
            </a:r>
            <a:r>
              <a:rPr lang="en-IN" sz="1400" dirty="0"/>
              <a:t>Popularity of the Movie</a:t>
            </a:r>
          </a:p>
          <a:p>
            <a:r>
              <a:rPr lang="en-IN" sz="1400" b="1" dirty="0"/>
              <a:t>Release Date</a:t>
            </a:r>
            <a:r>
              <a:rPr lang="en-IN" sz="1400" dirty="0"/>
              <a:t>: Release date for the movies</a:t>
            </a:r>
          </a:p>
          <a:p>
            <a:r>
              <a:rPr lang="en-IN" sz="1400" b="1" dirty="0"/>
              <a:t>Revenue: </a:t>
            </a:r>
            <a:r>
              <a:rPr lang="en-IN" sz="1400" dirty="0"/>
              <a:t>Revenue collected movie</a:t>
            </a:r>
          </a:p>
          <a:p>
            <a:r>
              <a:rPr lang="en-IN" sz="1400" b="1" dirty="0"/>
              <a:t>Title: </a:t>
            </a:r>
            <a:r>
              <a:rPr lang="en-IN" sz="1400" dirty="0"/>
              <a:t>Initial title of the movie</a:t>
            </a:r>
          </a:p>
          <a:p>
            <a:r>
              <a:rPr lang="en-IN" sz="1400" b="1" dirty="0"/>
              <a:t>Vote Average: </a:t>
            </a:r>
            <a:r>
              <a:rPr lang="en-IN" sz="1400" dirty="0"/>
              <a:t>Average IMDB rating</a:t>
            </a:r>
          </a:p>
          <a:p>
            <a:r>
              <a:rPr lang="en-IN" sz="1400" b="1" dirty="0"/>
              <a:t>Vote Count: </a:t>
            </a:r>
            <a:r>
              <a:rPr lang="en-IN" sz="1400" dirty="0"/>
              <a:t>Number of Vote the movie got</a:t>
            </a:r>
          </a:p>
          <a:p>
            <a:r>
              <a:rPr lang="en-IN" sz="1400" b="1" dirty="0"/>
              <a:t>Overview: </a:t>
            </a:r>
            <a:r>
              <a:rPr lang="en-IN" sz="1400" dirty="0"/>
              <a:t>Description of the movie</a:t>
            </a:r>
          </a:p>
          <a:p>
            <a:r>
              <a:rPr lang="en-IN" sz="1400" b="1" dirty="0"/>
              <a:t>Tagline: </a:t>
            </a:r>
            <a:r>
              <a:rPr lang="en-IN" sz="1400" dirty="0"/>
              <a:t>Tagline of the Movie</a:t>
            </a:r>
          </a:p>
          <a:p>
            <a:r>
              <a:rPr lang="en-IN" sz="1400" b="1" dirty="0"/>
              <a:t>UID: </a:t>
            </a:r>
            <a:r>
              <a:rPr lang="en-IN" sz="1400" dirty="0"/>
              <a:t>Unique ID for Movie</a:t>
            </a:r>
          </a:p>
          <a:p>
            <a:r>
              <a:rPr lang="en-IN" sz="1400" b="1" dirty="0"/>
              <a:t>Director ID: </a:t>
            </a:r>
            <a:r>
              <a:rPr lang="en-IN" sz="1400" dirty="0"/>
              <a:t>Director ID</a:t>
            </a:r>
          </a:p>
          <a:p>
            <a:endParaRPr lang="en-IN" dirty="0"/>
          </a:p>
        </p:txBody>
      </p:sp>
      <p:pic>
        <p:nvPicPr>
          <p:cNvPr id="6" name="Picture 5">
            <a:extLst>
              <a:ext uri="{FF2B5EF4-FFF2-40B4-BE49-F238E27FC236}">
                <a16:creationId xmlns:a16="http://schemas.microsoft.com/office/drawing/2014/main" id="{B7345E31-3AF7-52B5-6ECC-8ECD17225541}"/>
              </a:ext>
            </a:extLst>
          </p:cNvPr>
          <p:cNvPicPr>
            <a:picLocks noChangeAspect="1"/>
          </p:cNvPicPr>
          <p:nvPr/>
        </p:nvPicPr>
        <p:blipFill>
          <a:blip r:embed="rId2"/>
          <a:stretch>
            <a:fillRect/>
          </a:stretch>
        </p:blipFill>
        <p:spPr>
          <a:xfrm>
            <a:off x="9084911" y="789844"/>
            <a:ext cx="1593836" cy="2842241"/>
          </a:xfrm>
          <a:prstGeom prst="rect">
            <a:avLst/>
          </a:prstGeom>
        </p:spPr>
      </p:pic>
      <p:pic>
        <p:nvPicPr>
          <p:cNvPr id="7" name="Picture 6">
            <a:extLst>
              <a:ext uri="{FF2B5EF4-FFF2-40B4-BE49-F238E27FC236}">
                <a16:creationId xmlns:a16="http://schemas.microsoft.com/office/drawing/2014/main" id="{388E5D66-F0C7-E651-BCC1-A4B8EF655C0A}"/>
              </a:ext>
            </a:extLst>
          </p:cNvPr>
          <p:cNvPicPr>
            <a:picLocks noChangeAspect="1"/>
          </p:cNvPicPr>
          <p:nvPr/>
        </p:nvPicPr>
        <p:blipFill>
          <a:blip r:embed="rId3"/>
          <a:stretch>
            <a:fillRect/>
          </a:stretch>
        </p:blipFill>
        <p:spPr>
          <a:xfrm>
            <a:off x="10529904" y="3576858"/>
            <a:ext cx="1635809" cy="2156620"/>
          </a:xfrm>
          <a:prstGeom prst="rect">
            <a:avLst/>
          </a:prstGeom>
        </p:spPr>
      </p:pic>
      <p:pic>
        <p:nvPicPr>
          <p:cNvPr id="8" name="Picture 7">
            <a:extLst>
              <a:ext uri="{FF2B5EF4-FFF2-40B4-BE49-F238E27FC236}">
                <a16:creationId xmlns:a16="http://schemas.microsoft.com/office/drawing/2014/main" id="{7DBD5562-C1B0-68B6-3460-5AD4A1FF129E}"/>
              </a:ext>
            </a:extLst>
          </p:cNvPr>
          <p:cNvPicPr>
            <a:picLocks noChangeAspect="1"/>
          </p:cNvPicPr>
          <p:nvPr/>
        </p:nvPicPr>
        <p:blipFill>
          <a:blip r:embed="rId4"/>
          <a:stretch>
            <a:fillRect/>
          </a:stretch>
        </p:blipFill>
        <p:spPr>
          <a:xfrm>
            <a:off x="10491731" y="1557406"/>
            <a:ext cx="1700269" cy="2298272"/>
          </a:xfrm>
          <a:prstGeom prst="rect">
            <a:avLst/>
          </a:prstGeom>
        </p:spPr>
      </p:pic>
      <p:pic>
        <p:nvPicPr>
          <p:cNvPr id="9" name="Picture 8">
            <a:extLst>
              <a:ext uri="{FF2B5EF4-FFF2-40B4-BE49-F238E27FC236}">
                <a16:creationId xmlns:a16="http://schemas.microsoft.com/office/drawing/2014/main" id="{815343EE-385B-F393-B1B0-C03EDBD37658}"/>
              </a:ext>
            </a:extLst>
          </p:cNvPr>
          <p:cNvPicPr>
            <a:picLocks noChangeAspect="1"/>
          </p:cNvPicPr>
          <p:nvPr/>
        </p:nvPicPr>
        <p:blipFill>
          <a:blip r:embed="rId5"/>
          <a:stretch>
            <a:fillRect/>
          </a:stretch>
        </p:blipFill>
        <p:spPr>
          <a:xfrm>
            <a:off x="10473397" y="-22761"/>
            <a:ext cx="1748822" cy="1892503"/>
          </a:xfrm>
          <a:prstGeom prst="rect">
            <a:avLst/>
          </a:prstGeom>
        </p:spPr>
      </p:pic>
      <p:pic>
        <p:nvPicPr>
          <p:cNvPr id="10" name="Picture 9">
            <a:extLst>
              <a:ext uri="{FF2B5EF4-FFF2-40B4-BE49-F238E27FC236}">
                <a16:creationId xmlns:a16="http://schemas.microsoft.com/office/drawing/2014/main" id="{1BB74C8D-331B-86DD-DAB7-C1E8E8F7A59E}"/>
              </a:ext>
            </a:extLst>
          </p:cNvPr>
          <p:cNvPicPr>
            <a:picLocks noChangeAspect="1"/>
          </p:cNvPicPr>
          <p:nvPr/>
        </p:nvPicPr>
        <p:blipFill>
          <a:blip r:embed="rId6"/>
          <a:stretch>
            <a:fillRect/>
          </a:stretch>
        </p:blipFill>
        <p:spPr>
          <a:xfrm>
            <a:off x="8742910" y="3576858"/>
            <a:ext cx="1748821" cy="2313807"/>
          </a:xfrm>
          <a:prstGeom prst="rect">
            <a:avLst/>
          </a:prstGeom>
          <a:effectLst>
            <a:outerShdw blurRad="50800" dist="50800" dir="5400000" algn="ctr" rotWithShape="0">
              <a:schemeClr val="tx1"/>
            </a:outerShdw>
          </a:effectLst>
        </p:spPr>
      </p:pic>
      <p:pic>
        <p:nvPicPr>
          <p:cNvPr id="11" name="Picture 10">
            <a:extLst>
              <a:ext uri="{FF2B5EF4-FFF2-40B4-BE49-F238E27FC236}">
                <a16:creationId xmlns:a16="http://schemas.microsoft.com/office/drawing/2014/main" id="{7D31CD3C-5C6F-1DA9-6AD2-5CB5FCCB1A86}"/>
              </a:ext>
            </a:extLst>
          </p:cNvPr>
          <p:cNvPicPr>
            <a:picLocks noChangeAspect="1"/>
          </p:cNvPicPr>
          <p:nvPr/>
        </p:nvPicPr>
        <p:blipFill>
          <a:blip r:embed="rId7"/>
          <a:stretch>
            <a:fillRect/>
          </a:stretch>
        </p:blipFill>
        <p:spPr>
          <a:xfrm>
            <a:off x="8961520" y="5618021"/>
            <a:ext cx="3230480" cy="1239979"/>
          </a:xfrm>
          <a:prstGeom prst="rect">
            <a:avLst/>
          </a:prstGeom>
        </p:spPr>
      </p:pic>
    </p:spTree>
    <p:extLst>
      <p:ext uri="{BB962C8B-B14F-4D97-AF65-F5344CB8AC3E}">
        <p14:creationId xmlns:p14="http://schemas.microsoft.com/office/powerpoint/2010/main" val="378610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79F48547-A208-CE92-9794-40448EE628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C90CDA-972B-92A4-DA72-5768CA0A97DF}"/>
              </a:ext>
            </a:extLst>
          </p:cNvPr>
          <p:cNvSpPr txBox="1"/>
          <p:nvPr/>
        </p:nvSpPr>
        <p:spPr>
          <a:xfrm>
            <a:off x="1857983" y="262647"/>
            <a:ext cx="8249055" cy="461665"/>
          </a:xfrm>
          <a:prstGeom prst="rect">
            <a:avLst/>
          </a:prstGeom>
          <a:solidFill>
            <a:schemeClr val="bg1"/>
          </a:solidFill>
        </p:spPr>
        <p:txBody>
          <a:bodyPr wrap="square" rtlCol="0">
            <a:spAutoFit/>
          </a:bodyPr>
          <a:lstStyle/>
          <a:p>
            <a:pPr algn="ctr"/>
            <a:r>
              <a:rPr lang="en-US" sz="2400" dirty="0" err="1"/>
              <a:t>Taskes</a:t>
            </a:r>
            <a:r>
              <a:rPr lang="en-US" sz="2400" dirty="0"/>
              <a:t> </a:t>
            </a:r>
            <a:r>
              <a:rPr lang="en-US" sz="2400" dirty="0" err="1"/>
              <a:t>sql</a:t>
            </a:r>
            <a:endParaRPr lang="en-IN" sz="2400" dirty="0"/>
          </a:p>
        </p:txBody>
      </p:sp>
      <p:sp>
        <p:nvSpPr>
          <p:cNvPr id="3" name="TextBox 2">
            <a:extLst>
              <a:ext uri="{FF2B5EF4-FFF2-40B4-BE49-F238E27FC236}">
                <a16:creationId xmlns:a16="http://schemas.microsoft.com/office/drawing/2014/main" id="{52D4C316-59AA-662D-1025-29ECC0090E9C}"/>
              </a:ext>
            </a:extLst>
          </p:cNvPr>
          <p:cNvSpPr txBox="1"/>
          <p:nvPr/>
        </p:nvSpPr>
        <p:spPr>
          <a:xfrm>
            <a:off x="1225685" y="1313234"/>
            <a:ext cx="10116766" cy="5170646"/>
          </a:xfrm>
          <a:prstGeom prst="rect">
            <a:avLst/>
          </a:prstGeom>
          <a:solidFill>
            <a:schemeClr val="bg2">
              <a:lumMod val="90000"/>
            </a:schemeClr>
          </a:solidFill>
        </p:spPr>
        <p:txBody>
          <a:bodyPr wrap="square" rtlCol="0">
            <a:spAutoFit/>
          </a:bodyPr>
          <a:lstStyle/>
          <a:p>
            <a:pPr marL="342900" lvl="0" indent="-342900">
              <a:buFont typeface="+mj-lt"/>
              <a:buAutoNum type="arabicPeriod"/>
            </a:pPr>
            <a:r>
              <a:rPr lang="en-IN" sz="2400" dirty="0"/>
              <a:t>Can you get all data about movies? </a:t>
            </a:r>
          </a:p>
          <a:p>
            <a:pPr marL="342900" lvl="0" indent="-342900">
              <a:buFont typeface="+mj-lt"/>
              <a:buAutoNum type="arabicPeriod"/>
            </a:pPr>
            <a:r>
              <a:rPr lang="en-IN" sz="2400" dirty="0"/>
              <a:t>How do you get all data about directors?</a:t>
            </a:r>
          </a:p>
          <a:p>
            <a:pPr marL="342900" lvl="0" indent="-342900">
              <a:buFont typeface="+mj-lt"/>
              <a:buAutoNum type="arabicPeriod"/>
            </a:pPr>
            <a:r>
              <a:rPr lang="en-IN" sz="2400" dirty="0"/>
              <a:t>Check how many movies are present in IMDB.</a:t>
            </a:r>
          </a:p>
          <a:p>
            <a:pPr marL="342900" lvl="0" indent="-342900">
              <a:buFont typeface="+mj-lt"/>
              <a:buAutoNum type="arabicPeriod"/>
            </a:pPr>
            <a:r>
              <a:rPr lang="en-IN" sz="2400" dirty="0"/>
              <a:t>Find these 3 directors: James Cameron ; Luc Besson ; John Woo</a:t>
            </a:r>
          </a:p>
          <a:p>
            <a:pPr marL="342900" lvl="0" indent="-342900">
              <a:buFont typeface="+mj-lt"/>
              <a:buAutoNum type="arabicPeriod"/>
            </a:pPr>
            <a:r>
              <a:rPr lang="en-IN" sz="2400" dirty="0"/>
              <a:t>Find all directors with name starting with S.</a:t>
            </a:r>
          </a:p>
          <a:p>
            <a:pPr marL="342900" lvl="0" indent="-342900">
              <a:buFont typeface="+mj-lt"/>
              <a:buAutoNum type="arabicPeriod"/>
            </a:pPr>
            <a:r>
              <a:rPr lang="en-IN" sz="2400" dirty="0"/>
              <a:t>Count female directors.</a:t>
            </a:r>
          </a:p>
          <a:p>
            <a:pPr marL="342900" lvl="0" indent="-342900">
              <a:buFont typeface="+mj-lt"/>
              <a:buAutoNum type="arabicPeriod"/>
            </a:pPr>
            <a:r>
              <a:rPr lang="en-IN" sz="2400" dirty="0"/>
              <a:t>Find the name of the 10th first women directors?</a:t>
            </a:r>
          </a:p>
          <a:p>
            <a:pPr marL="342900" lvl="0" indent="-342900">
              <a:buFont typeface="+mj-lt"/>
              <a:buAutoNum type="arabicPeriod"/>
            </a:pPr>
            <a:r>
              <a:rPr lang="en-IN" sz="2400" dirty="0"/>
              <a:t>What are the 3 most popular movies?</a:t>
            </a:r>
          </a:p>
          <a:p>
            <a:pPr marL="342900" lvl="0" indent="-342900">
              <a:buFont typeface="+mj-lt"/>
              <a:buAutoNum type="arabicPeriod"/>
            </a:pPr>
            <a:r>
              <a:rPr lang="en-IN" sz="2400" dirty="0"/>
              <a:t>What are the 3 most bankable movies?</a:t>
            </a:r>
          </a:p>
          <a:p>
            <a:pPr marL="342900" lvl="0" indent="-342900">
              <a:buFont typeface="+mj-lt"/>
              <a:buAutoNum type="arabicPeriod"/>
            </a:pPr>
            <a:r>
              <a:rPr lang="en-IN" sz="2400" dirty="0"/>
              <a:t>What is the most awarded average vote since the January 1st, 2000?</a:t>
            </a:r>
          </a:p>
          <a:p>
            <a:pPr marL="342900" lvl="0" indent="-342900">
              <a:buFont typeface="+mj-lt"/>
              <a:buAutoNum type="arabicPeriod"/>
            </a:pPr>
            <a:r>
              <a:rPr lang="en-IN" sz="2400" dirty="0"/>
              <a:t>Which movie(s) were directed by Brenda Chapman?</a:t>
            </a:r>
          </a:p>
          <a:p>
            <a:pPr marL="342900" lvl="0" indent="-342900">
              <a:buFont typeface="+mj-lt"/>
              <a:buAutoNum type="arabicPeriod"/>
            </a:pPr>
            <a:r>
              <a:rPr lang="en-IN" sz="2400" dirty="0"/>
              <a:t>Which director made the most movies?</a:t>
            </a:r>
          </a:p>
          <a:p>
            <a:pPr marL="342900" lvl="0" indent="-342900">
              <a:buFont typeface="+mj-lt"/>
              <a:buAutoNum type="arabicPeriod"/>
            </a:pPr>
            <a:r>
              <a:rPr lang="en-IN" sz="2400" dirty="0"/>
              <a:t>Which director is the most bankable?</a:t>
            </a:r>
          </a:p>
          <a:p>
            <a:endParaRPr lang="en-IN" dirty="0"/>
          </a:p>
        </p:txBody>
      </p:sp>
      <p:pic>
        <p:nvPicPr>
          <p:cNvPr id="6" name="Picture 5">
            <a:extLst>
              <a:ext uri="{FF2B5EF4-FFF2-40B4-BE49-F238E27FC236}">
                <a16:creationId xmlns:a16="http://schemas.microsoft.com/office/drawing/2014/main" id="{06AD80FF-6C21-F56C-7377-6629F41F03AA}"/>
              </a:ext>
            </a:extLst>
          </p:cNvPr>
          <p:cNvPicPr>
            <a:picLocks noChangeAspect="1"/>
          </p:cNvPicPr>
          <p:nvPr/>
        </p:nvPicPr>
        <p:blipFill>
          <a:blip r:embed="rId3"/>
          <a:stretch>
            <a:fillRect/>
          </a:stretch>
        </p:blipFill>
        <p:spPr>
          <a:xfrm>
            <a:off x="10363200" y="0"/>
            <a:ext cx="1828800" cy="2156620"/>
          </a:xfrm>
          <a:prstGeom prst="rect">
            <a:avLst/>
          </a:prstGeom>
        </p:spPr>
      </p:pic>
      <p:pic>
        <p:nvPicPr>
          <p:cNvPr id="7" name="Picture 6">
            <a:extLst>
              <a:ext uri="{FF2B5EF4-FFF2-40B4-BE49-F238E27FC236}">
                <a16:creationId xmlns:a16="http://schemas.microsoft.com/office/drawing/2014/main" id="{53149D25-7469-8EED-5A5E-237F59D30DC1}"/>
              </a:ext>
            </a:extLst>
          </p:cNvPr>
          <p:cNvPicPr>
            <a:picLocks noChangeAspect="1"/>
          </p:cNvPicPr>
          <p:nvPr/>
        </p:nvPicPr>
        <p:blipFill>
          <a:blip r:embed="rId4"/>
          <a:stretch>
            <a:fillRect/>
          </a:stretch>
        </p:blipFill>
        <p:spPr>
          <a:xfrm>
            <a:off x="10556191" y="2156620"/>
            <a:ext cx="1635809" cy="1930791"/>
          </a:xfrm>
          <a:prstGeom prst="rect">
            <a:avLst/>
          </a:prstGeom>
        </p:spPr>
      </p:pic>
      <p:pic>
        <p:nvPicPr>
          <p:cNvPr id="8" name="Picture 7">
            <a:extLst>
              <a:ext uri="{FF2B5EF4-FFF2-40B4-BE49-F238E27FC236}">
                <a16:creationId xmlns:a16="http://schemas.microsoft.com/office/drawing/2014/main" id="{1484C768-308F-E8AF-F8BE-5CF4E82C781C}"/>
              </a:ext>
            </a:extLst>
          </p:cNvPr>
          <p:cNvPicPr>
            <a:picLocks noChangeAspect="1"/>
          </p:cNvPicPr>
          <p:nvPr/>
        </p:nvPicPr>
        <p:blipFill>
          <a:blip r:embed="rId5"/>
          <a:stretch>
            <a:fillRect/>
          </a:stretch>
        </p:blipFill>
        <p:spPr>
          <a:xfrm>
            <a:off x="10894263" y="4087411"/>
            <a:ext cx="1282357" cy="2770589"/>
          </a:xfrm>
          <a:prstGeom prst="rect">
            <a:avLst/>
          </a:prstGeom>
        </p:spPr>
      </p:pic>
    </p:spTree>
    <p:extLst>
      <p:ext uri="{BB962C8B-B14F-4D97-AF65-F5344CB8AC3E}">
        <p14:creationId xmlns:p14="http://schemas.microsoft.com/office/powerpoint/2010/main" val="302246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C1CC0D6C-3C42-B511-9A3C-45626447D4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6D1A10-3E10-4482-FD83-186131F8E7C2}"/>
              </a:ext>
            </a:extLst>
          </p:cNvPr>
          <p:cNvSpPr txBox="1"/>
          <p:nvPr/>
        </p:nvSpPr>
        <p:spPr>
          <a:xfrm rot="10800000" flipV="1">
            <a:off x="1575881" y="118885"/>
            <a:ext cx="8638161" cy="461665"/>
          </a:xfrm>
          <a:prstGeom prst="rect">
            <a:avLst/>
          </a:prstGeom>
          <a:solidFill>
            <a:schemeClr val="bg1"/>
          </a:solidFill>
        </p:spPr>
        <p:txBody>
          <a:bodyPr wrap="square" rtlCol="0">
            <a:spAutoFit/>
          </a:bodyPr>
          <a:lstStyle/>
          <a:p>
            <a:pPr algn="ctr"/>
            <a:r>
              <a:rPr lang="en-US" sz="2400" b="1" dirty="0" err="1"/>
              <a:t>DataCleaning</a:t>
            </a:r>
            <a:endParaRPr lang="en-IN" sz="2400" b="1" dirty="0"/>
          </a:p>
        </p:txBody>
      </p:sp>
      <p:sp>
        <p:nvSpPr>
          <p:cNvPr id="4" name="TextBox 3">
            <a:extLst>
              <a:ext uri="{FF2B5EF4-FFF2-40B4-BE49-F238E27FC236}">
                <a16:creationId xmlns:a16="http://schemas.microsoft.com/office/drawing/2014/main" id="{DDCB0FFF-4A76-0E00-11A3-3A4AA9D8D0F1}"/>
              </a:ext>
            </a:extLst>
          </p:cNvPr>
          <p:cNvSpPr txBox="1"/>
          <p:nvPr/>
        </p:nvSpPr>
        <p:spPr>
          <a:xfrm>
            <a:off x="1410511" y="1468878"/>
            <a:ext cx="8968902" cy="4708981"/>
          </a:xfrm>
          <a:prstGeom prst="rect">
            <a:avLst/>
          </a:prstGeom>
          <a:solidFill>
            <a:schemeClr val="bg2">
              <a:lumMod val="90000"/>
            </a:schemeClr>
          </a:solidFill>
        </p:spPr>
        <p:txBody>
          <a:bodyPr wrap="square" rtlCol="0">
            <a:spAutoFit/>
          </a:bodyPr>
          <a:lstStyle/>
          <a:p>
            <a:r>
              <a:rPr lang="en-US" b="1" u="sng" dirty="0"/>
              <a:t>Mention:-</a:t>
            </a:r>
          </a:p>
          <a:p>
            <a:r>
              <a:rPr lang="en-US" dirty="0"/>
              <a:t>Checked NULL values using IS NULL</a:t>
            </a:r>
          </a:p>
          <a:p>
            <a:r>
              <a:rPr lang="en-US" dirty="0"/>
              <a:t>Checked duplicates using GROUP BY + HAVING COUNT(*) </a:t>
            </a:r>
            <a:r>
              <a:rPr lang="en-US" b="1" dirty="0"/>
              <a:t>! Found replaced with “not available”</a:t>
            </a:r>
          </a:p>
          <a:p>
            <a:r>
              <a:rPr lang="en-US" dirty="0"/>
              <a:t>Verified data consistency</a:t>
            </a:r>
          </a:p>
          <a:p>
            <a:r>
              <a:rPr lang="en-US" dirty="0"/>
              <a:t>Validated date formats</a:t>
            </a:r>
          </a:p>
          <a:p>
            <a:endParaRPr lang="en-US" dirty="0"/>
          </a:p>
          <a:p>
            <a:endParaRPr lang="en-US" dirty="0"/>
          </a:p>
          <a:p>
            <a:r>
              <a:rPr lang="en-US" sz="2000" b="1" dirty="0"/>
              <a:t>During the data cleaning process, I verified the dataset for null values is replaced with </a:t>
            </a:r>
            <a:r>
              <a:rPr lang="en-US" sz="2000" b="1" u="sng" dirty="0"/>
              <a:t>"string like not available in tagline column in movies table” </a:t>
            </a:r>
            <a:r>
              <a:rPr lang="en-US" sz="2000" b="1" dirty="0"/>
              <a:t>and duplicate records using SQL queries. I also validated the data types and created age group categories using CASE statements for segmentation analysis. The dataset was clean and ready for analysis.</a:t>
            </a:r>
          </a:p>
          <a:p>
            <a:endParaRPr lang="en-US" sz="2000" b="1" dirty="0"/>
          </a:p>
          <a:p>
            <a:endParaRPr lang="en-US" dirty="0"/>
          </a:p>
          <a:p>
            <a:endParaRPr lang="en-IN" dirty="0"/>
          </a:p>
        </p:txBody>
      </p:sp>
      <p:pic>
        <p:nvPicPr>
          <p:cNvPr id="2" name="Picture 1">
            <a:extLst>
              <a:ext uri="{FF2B5EF4-FFF2-40B4-BE49-F238E27FC236}">
                <a16:creationId xmlns:a16="http://schemas.microsoft.com/office/drawing/2014/main" id="{45365BE3-A4D7-28A6-1A83-C987D3A17114}"/>
              </a:ext>
            </a:extLst>
          </p:cNvPr>
          <p:cNvPicPr>
            <a:picLocks noChangeAspect="1"/>
          </p:cNvPicPr>
          <p:nvPr/>
        </p:nvPicPr>
        <p:blipFill>
          <a:blip r:embed="rId2"/>
          <a:stretch>
            <a:fillRect/>
          </a:stretch>
        </p:blipFill>
        <p:spPr>
          <a:xfrm>
            <a:off x="0" y="0"/>
            <a:ext cx="1410510" cy="2432691"/>
          </a:xfrm>
          <a:prstGeom prst="rect">
            <a:avLst/>
          </a:prstGeom>
          <a:effectLst>
            <a:outerShdw blurRad="50800" dist="50800" dir="5400000" algn="ctr" rotWithShape="0">
              <a:schemeClr val="tx1"/>
            </a:outerShdw>
          </a:effectLst>
        </p:spPr>
      </p:pic>
      <p:pic>
        <p:nvPicPr>
          <p:cNvPr id="8" name="Picture 7">
            <a:extLst>
              <a:ext uri="{FF2B5EF4-FFF2-40B4-BE49-F238E27FC236}">
                <a16:creationId xmlns:a16="http://schemas.microsoft.com/office/drawing/2014/main" id="{9497A7FF-ABCD-9069-41C7-903A388BC177}"/>
              </a:ext>
            </a:extLst>
          </p:cNvPr>
          <p:cNvPicPr>
            <a:picLocks noChangeAspect="1"/>
          </p:cNvPicPr>
          <p:nvPr/>
        </p:nvPicPr>
        <p:blipFill>
          <a:blip r:embed="rId3"/>
          <a:stretch>
            <a:fillRect/>
          </a:stretch>
        </p:blipFill>
        <p:spPr>
          <a:xfrm>
            <a:off x="0" y="4766554"/>
            <a:ext cx="1410511" cy="2091446"/>
          </a:xfrm>
          <a:prstGeom prst="rect">
            <a:avLst/>
          </a:prstGeom>
          <a:effectLst>
            <a:outerShdw blurRad="50800" dist="50800" dir="5400000" algn="ctr" rotWithShape="0">
              <a:schemeClr val="tx1"/>
            </a:outerShdw>
          </a:effectLst>
        </p:spPr>
      </p:pic>
      <p:pic>
        <p:nvPicPr>
          <p:cNvPr id="9" name="Picture 8">
            <a:extLst>
              <a:ext uri="{FF2B5EF4-FFF2-40B4-BE49-F238E27FC236}">
                <a16:creationId xmlns:a16="http://schemas.microsoft.com/office/drawing/2014/main" id="{83E3094C-1DC5-8226-8149-DF900B08376A}"/>
              </a:ext>
            </a:extLst>
          </p:cNvPr>
          <p:cNvPicPr>
            <a:picLocks noChangeAspect="1"/>
          </p:cNvPicPr>
          <p:nvPr/>
        </p:nvPicPr>
        <p:blipFill>
          <a:blip r:embed="rId4"/>
          <a:stretch>
            <a:fillRect/>
          </a:stretch>
        </p:blipFill>
        <p:spPr>
          <a:xfrm>
            <a:off x="10379413" y="0"/>
            <a:ext cx="1812587" cy="6858000"/>
          </a:xfrm>
          <a:prstGeom prst="rect">
            <a:avLst/>
          </a:prstGeom>
        </p:spPr>
      </p:pic>
      <p:pic>
        <p:nvPicPr>
          <p:cNvPr id="10" name="Picture 9">
            <a:extLst>
              <a:ext uri="{FF2B5EF4-FFF2-40B4-BE49-F238E27FC236}">
                <a16:creationId xmlns:a16="http://schemas.microsoft.com/office/drawing/2014/main" id="{E00A8FF8-71B5-6681-5CC4-7515AB220BDA}"/>
              </a:ext>
            </a:extLst>
          </p:cNvPr>
          <p:cNvPicPr>
            <a:picLocks noChangeAspect="1"/>
          </p:cNvPicPr>
          <p:nvPr/>
        </p:nvPicPr>
        <p:blipFill>
          <a:blip r:embed="rId5"/>
          <a:stretch>
            <a:fillRect/>
          </a:stretch>
        </p:blipFill>
        <p:spPr>
          <a:xfrm>
            <a:off x="1" y="2464018"/>
            <a:ext cx="1410510" cy="2302536"/>
          </a:xfrm>
          <a:prstGeom prst="rect">
            <a:avLst/>
          </a:prstGeom>
        </p:spPr>
      </p:pic>
    </p:spTree>
    <p:extLst>
      <p:ext uri="{BB962C8B-B14F-4D97-AF65-F5344CB8AC3E}">
        <p14:creationId xmlns:p14="http://schemas.microsoft.com/office/powerpoint/2010/main" val="4086762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973F279D-DDF5-4870-44AC-D7B529BF95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86C3-57FE-C2BE-8900-EC01E8BC9292}"/>
              </a:ext>
            </a:extLst>
          </p:cNvPr>
          <p:cNvSpPr txBox="1"/>
          <p:nvPr/>
        </p:nvSpPr>
        <p:spPr>
          <a:xfrm>
            <a:off x="924128" y="144888"/>
            <a:ext cx="9262353" cy="369332"/>
          </a:xfrm>
          <a:prstGeom prst="rect">
            <a:avLst/>
          </a:prstGeom>
          <a:solidFill>
            <a:schemeClr val="bg1"/>
          </a:solidFill>
        </p:spPr>
        <p:txBody>
          <a:bodyPr wrap="square" rtlCol="0">
            <a:spAutoFit/>
          </a:bodyPr>
          <a:lstStyle/>
          <a:p>
            <a:pPr algn="ctr"/>
            <a:r>
              <a:rPr lang="en-US" b="1" dirty="0"/>
              <a:t>1.</a:t>
            </a:r>
            <a:r>
              <a:rPr lang="en-IN" b="1" dirty="0"/>
              <a:t> </a:t>
            </a:r>
            <a:r>
              <a:rPr lang="en-IN" dirty="0"/>
              <a:t>How do you get all data about Movies?</a:t>
            </a:r>
          </a:p>
        </p:txBody>
      </p:sp>
      <p:sp>
        <p:nvSpPr>
          <p:cNvPr id="4" name="TextBox 3">
            <a:extLst>
              <a:ext uri="{FF2B5EF4-FFF2-40B4-BE49-F238E27FC236}">
                <a16:creationId xmlns:a16="http://schemas.microsoft.com/office/drawing/2014/main" id="{C65F2CD7-4050-DA44-046A-66B392138F92}"/>
              </a:ext>
            </a:extLst>
          </p:cNvPr>
          <p:cNvSpPr txBox="1"/>
          <p:nvPr/>
        </p:nvSpPr>
        <p:spPr>
          <a:xfrm>
            <a:off x="768485" y="1011678"/>
            <a:ext cx="10554512" cy="4056434"/>
          </a:xfrm>
          <a:prstGeom prst="rect">
            <a:avLst/>
          </a:prstGeom>
          <a:solidFill>
            <a:schemeClr val="bg2">
              <a:lumMod val="90000"/>
            </a:schemeClr>
          </a:solidFill>
          <a:effectLst>
            <a:outerShdw blurRad="50800" dist="50800" dir="5400000" algn="ctr" rotWithShape="0">
              <a:schemeClr val="bg2">
                <a:lumMod val="90000"/>
              </a:schemeClr>
            </a:outerShdw>
          </a:effectLst>
        </p:spPr>
        <p:txBody>
          <a:bodyPr wrap="square" rtlCol="0">
            <a:spAutoFit/>
          </a:bodyPr>
          <a:lstStyle/>
          <a:p>
            <a:endParaRPr lang="en-IN" dirty="0"/>
          </a:p>
        </p:txBody>
      </p:sp>
      <p:sp>
        <p:nvSpPr>
          <p:cNvPr id="11" name="TextBox 10">
            <a:extLst>
              <a:ext uri="{FF2B5EF4-FFF2-40B4-BE49-F238E27FC236}">
                <a16:creationId xmlns:a16="http://schemas.microsoft.com/office/drawing/2014/main" id="{BD9A1076-E34D-D735-8F60-19DDB9D79884}"/>
              </a:ext>
            </a:extLst>
          </p:cNvPr>
          <p:cNvSpPr txBox="1"/>
          <p:nvPr/>
        </p:nvSpPr>
        <p:spPr>
          <a:xfrm flipH="1">
            <a:off x="632298" y="5249671"/>
            <a:ext cx="10838244" cy="1200329"/>
          </a:xfrm>
          <a:prstGeom prst="rect">
            <a:avLst/>
          </a:prstGeom>
          <a:solidFill>
            <a:schemeClr val="bg2">
              <a:lumMod val="90000"/>
            </a:schemeClr>
          </a:solidFill>
          <a:effectLst>
            <a:outerShdw blurRad="50800" dist="50800" dir="5400000" algn="ctr" rotWithShape="0">
              <a:schemeClr val="bg2">
                <a:lumMod val="90000"/>
              </a:schemeClr>
            </a:outerShdw>
          </a:effectLst>
        </p:spPr>
        <p:txBody>
          <a:bodyPr wrap="square" rtlCol="0">
            <a:spAutoFit/>
          </a:bodyPr>
          <a:lstStyle/>
          <a:p>
            <a:r>
              <a:rPr lang="en-US" b="1" dirty="0"/>
              <a:t>Insights:-</a:t>
            </a:r>
          </a:p>
          <a:p>
            <a:r>
              <a:rPr lang="en-US" dirty="0"/>
              <a:t>The dataset contains attributes such as budget, revenue, ratings, popularity, and release date, which allow both financial and performance analysis. These attributes help in understanding profitability, audience engagement, and trends over time, enabling comprehensive movie performance evaluation.”</a:t>
            </a:r>
            <a:endParaRPr lang="en-US" b="1" dirty="0"/>
          </a:p>
        </p:txBody>
      </p:sp>
      <p:pic>
        <p:nvPicPr>
          <p:cNvPr id="6" name="Picture 5">
            <a:extLst>
              <a:ext uri="{FF2B5EF4-FFF2-40B4-BE49-F238E27FC236}">
                <a16:creationId xmlns:a16="http://schemas.microsoft.com/office/drawing/2014/main" id="{ED7D80CD-C7F8-ADC7-FC16-01DCD2271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128" y="2879387"/>
            <a:ext cx="10291863" cy="2121404"/>
          </a:xfrm>
          <a:prstGeom prst="rect">
            <a:avLst/>
          </a:prstGeom>
        </p:spPr>
      </p:pic>
      <p:pic>
        <p:nvPicPr>
          <p:cNvPr id="10" name="Picture 9">
            <a:extLst>
              <a:ext uri="{FF2B5EF4-FFF2-40B4-BE49-F238E27FC236}">
                <a16:creationId xmlns:a16="http://schemas.microsoft.com/office/drawing/2014/main" id="{4051F30F-72DF-2B3F-4BD8-16FAACD59A20}"/>
              </a:ext>
            </a:extLst>
          </p:cNvPr>
          <p:cNvPicPr>
            <a:picLocks noChangeAspect="1"/>
          </p:cNvPicPr>
          <p:nvPr/>
        </p:nvPicPr>
        <p:blipFill>
          <a:blip r:embed="rId3"/>
          <a:stretch>
            <a:fillRect/>
          </a:stretch>
        </p:blipFill>
        <p:spPr>
          <a:xfrm>
            <a:off x="1765601" y="1284051"/>
            <a:ext cx="5372850" cy="1293780"/>
          </a:xfrm>
          <a:prstGeom prst="rect">
            <a:avLst/>
          </a:prstGeom>
        </p:spPr>
      </p:pic>
      <p:pic>
        <p:nvPicPr>
          <p:cNvPr id="13" name="Picture 12">
            <a:extLst>
              <a:ext uri="{FF2B5EF4-FFF2-40B4-BE49-F238E27FC236}">
                <a16:creationId xmlns:a16="http://schemas.microsoft.com/office/drawing/2014/main" id="{4A7AFB83-5BFC-071E-31AC-5AAB01C0CB84}"/>
              </a:ext>
            </a:extLst>
          </p:cNvPr>
          <p:cNvPicPr>
            <a:picLocks noChangeAspect="1"/>
          </p:cNvPicPr>
          <p:nvPr/>
        </p:nvPicPr>
        <p:blipFill>
          <a:blip r:embed="rId4"/>
          <a:stretch>
            <a:fillRect/>
          </a:stretch>
        </p:blipFill>
        <p:spPr>
          <a:xfrm>
            <a:off x="10241063" y="0"/>
            <a:ext cx="1325757" cy="2301508"/>
          </a:xfrm>
          <a:prstGeom prst="rect">
            <a:avLst/>
          </a:prstGeom>
          <a:effectLst>
            <a:outerShdw blurRad="50800" dist="50800" dir="5400000" algn="ctr" rotWithShape="0">
              <a:schemeClr val="tx1"/>
            </a:outerShdw>
          </a:effectLst>
        </p:spPr>
      </p:pic>
      <p:pic>
        <p:nvPicPr>
          <p:cNvPr id="14" name="Picture 13">
            <a:extLst>
              <a:ext uri="{FF2B5EF4-FFF2-40B4-BE49-F238E27FC236}">
                <a16:creationId xmlns:a16="http://schemas.microsoft.com/office/drawing/2014/main" id="{08F13C4E-057C-0BEE-401E-2EA39A57ED5D}"/>
              </a:ext>
            </a:extLst>
          </p:cNvPr>
          <p:cNvPicPr>
            <a:picLocks noChangeAspect="1"/>
          </p:cNvPicPr>
          <p:nvPr/>
        </p:nvPicPr>
        <p:blipFill>
          <a:blip r:embed="rId5"/>
          <a:stretch>
            <a:fillRect/>
          </a:stretch>
        </p:blipFill>
        <p:spPr>
          <a:xfrm>
            <a:off x="11000220" y="741608"/>
            <a:ext cx="1191780" cy="2137779"/>
          </a:xfrm>
          <a:prstGeom prst="rect">
            <a:avLst/>
          </a:prstGeom>
        </p:spPr>
      </p:pic>
    </p:spTree>
    <p:extLst>
      <p:ext uri="{BB962C8B-B14F-4D97-AF65-F5344CB8AC3E}">
        <p14:creationId xmlns:p14="http://schemas.microsoft.com/office/powerpoint/2010/main" val="124182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A785DE6A-86C6-3ADA-A520-9FB7012C06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E6B331-2965-A180-AC73-6AF85621528F}"/>
              </a:ext>
            </a:extLst>
          </p:cNvPr>
          <p:cNvSpPr txBox="1"/>
          <p:nvPr/>
        </p:nvSpPr>
        <p:spPr>
          <a:xfrm>
            <a:off x="1828801" y="136188"/>
            <a:ext cx="8307420" cy="923330"/>
          </a:xfrm>
          <a:prstGeom prst="rect">
            <a:avLst/>
          </a:prstGeom>
          <a:solidFill>
            <a:schemeClr val="bg1"/>
          </a:solidFill>
        </p:spPr>
        <p:txBody>
          <a:bodyPr wrap="square" rtlCol="0">
            <a:spAutoFit/>
          </a:bodyPr>
          <a:lstStyle/>
          <a:p>
            <a:pPr algn="ctr"/>
            <a:r>
              <a:rPr lang="en-US" b="1" dirty="0" err="1"/>
              <a:t>Sql</a:t>
            </a:r>
            <a:r>
              <a:rPr lang="en-US" b="1" dirty="0"/>
              <a:t> </a:t>
            </a:r>
            <a:r>
              <a:rPr lang="en-US" b="1" dirty="0" err="1"/>
              <a:t>queshions</a:t>
            </a:r>
            <a:r>
              <a:rPr lang="en-US" b="1" dirty="0"/>
              <a:t>:-</a:t>
            </a:r>
          </a:p>
          <a:p>
            <a:pPr algn="ctr"/>
            <a:r>
              <a:rPr lang="en-US" dirty="0"/>
              <a:t>2.</a:t>
            </a:r>
            <a:r>
              <a:rPr lang="en-IN" dirty="0"/>
              <a:t> How do you get all data about directors?</a:t>
            </a:r>
          </a:p>
          <a:p>
            <a:endParaRPr lang="en-IN" dirty="0"/>
          </a:p>
        </p:txBody>
      </p:sp>
      <p:sp>
        <p:nvSpPr>
          <p:cNvPr id="4" name="TextBox 3">
            <a:extLst>
              <a:ext uri="{FF2B5EF4-FFF2-40B4-BE49-F238E27FC236}">
                <a16:creationId xmlns:a16="http://schemas.microsoft.com/office/drawing/2014/main" id="{2E4A476F-5F9F-2004-99FC-13F4375B39E7}"/>
              </a:ext>
            </a:extLst>
          </p:cNvPr>
          <p:cNvSpPr txBox="1"/>
          <p:nvPr/>
        </p:nvSpPr>
        <p:spPr>
          <a:xfrm>
            <a:off x="583660" y="1702340"/>
            <a:ext cx="10437778" cy="2937754"/>
          </a:xfrm>
          <a:prstGeom prst="rect">
            <a:avLst/>
          </a:prstGeom>
          <a:solidFill>
            <a:schemeClr val="bg1"/>
          </a:solidFill>
        </p:spPr>
        <p:txBody>
          <a:bodyPr wrap="square" rtlCol="0">
            <a:spAutoFit/>
          </a:bodyPr>
          <a:lstStyle/>
          <a:p>
            <a:endParaRPr lang="en-IN" dirty="0"/>
          </a:p>
        </p:txBody>
      </p:sp>
      <p:sp>
        <p:nvSpPr>
          <p:cNvPr id="12" name="TextBox 11">
            <a:extLst>
              <a:ext uri="{FF2B5EF4-FFF2-40B4-BE49-F238E27FC236}">
                <a16:creationId xmlns:a16="http://schemas.microsoft.com/office/drawing/2014/main" id="{DBD500EA-133E-E1E1-A35E-404236EE9E92}"/>
              </a:ext>
            </a:extLst>
          </p:cNvPr>
          <p:cNvSpPr txBox="1"/>
          <p:nvPr/>
        </p:nvSpPr>
        <p:spPr>
          <a:xfrm>
            <a:off x="583660" y="4803828"/>
            <a:ext cx="10544783" cy="1477328"/>
          </a:xfrm>
          <a:prstGeom prst="rect">
            <a:avLst/>
          </a:prstGeom>
          <a:solidFill>
            <a:schemeClr val="bg2">
              <a:lumMod val="90000"/>
            </a:schemeClr>
          </a:solidFill>
        </p:spPr>
        <p:txBody>
          <a:bodyPr wrap="square" rtlCol="0">
            <a:spAutoFit/>
          </a:bodyPr>
          <a:lstStyle/>
          <a:p>
            <a:r>
              <a:rPr lang="en-US" b="1" dirty="0"/>
              <a:t>Insights:-</a:t>
            </a:r>
          </a:p>
          <a:p>
            <a:r>
              <a:rPr lang="en-US" dirty="0"/>
              <a:t>The directors table contains key attributes like ID, name, gender, and department, which help in identifying directors, analyzing their performance, and understanding diversity in the dataset. This enables evaluation of director impact on movie success and supports better decision-making.</a:t>
            </a:r>
          </a:p>
          <a:p>
            <a:endParaRPr lang="en-US" b="1" dirty="0"/>
          </a:p>
        </p:txBody>
      </p:sp>
      <p:pic>
        <p:nvPicPr>
          <p:cNvPr id="6" name="Picture 5">
            <a:extLst>
              <a:ext uri="{FF2B5EF4-FFF2-40B4-BE49-F238E27FC236}">
                <a16:creationId xmlns:a16="http://schemas.microsoft.com/office/drawing/2014/main" id="{C01E24FF-7EA8-2773-5425-03F67D755597}"/>
              </a:ext>
            </a:extLst>
          </p:cNvPr>
          <p:cNvPicPr>
            <a:picLocks noChangeAspect="1"/>
          </p:cNvPicPr>
          <p:nvPr/>
        </p:nvPicPr>
        <p:blipFill>
          <a:blip r:embed="rId2"/>
          <a:stretch>
            <a:fillRect/>
          </a:stretch>
        </p:blipFill>
        <p:spPr>
          <a:xfrm>
            <a:off x="3765145" y="2811293"/>
            <a:ext cx="6888804" cy="1657881"/>
          </a:xfrm>
          <a:prstGeom prst="rect">
            <a:avLst/>
          </a:prstGeom>
        </p:spPr>
      </p:pic>
      <p:pic>
        <p:nvPicPr>
          <p:cNvPr id="8" name="Picture 7">
            <a:extLst>
              <a:ext uri="{FF2B5EF4-FFF2-40B4-BE49-F238E27FC236}">
                <a16:creationId xmlns:a16="http://schemas.microsoft.com/office/drawing/2014/main" id="{35B69246-5733-51F2-417C-0D21BE256EDE}"/>
              </a:ext>
            </a:extLst>
          </p:cNvPr>
          <p:cNvPicPr>
            <a:picLocks noChangeAspect="1"/>
          </p:cNvPicPr>
          <p:nvPr/>
        </p:nvPicPr>
        <p:blipFill>
          <a:blip r:embed="rId3"/>
          <a:stretch>
            <a:fillRect/>
          </a:stretch>
        </p:blipFill>
        <p:spPr>
          <a:xfrm>
            <a:off x="774390" y="1896544"/>
            <a:ext cx="2800741" cy="1495634"/>
          </a:xfrm>
          <a:prstGeom prst="rect">
            <a:avLst/>
          </a:prstGeom>
        </p:spPr>
      </p:pic>
      <p:pic>
        <p:nvPicPr>
          <p:cNvPr id="10" name="Picture 9">
            <a:extLst>
              <a:ext uri="{FF2B5EF4-FFF2-40B4-BE49-F238E27FC236}">
                <a16:creationId xmlns:a16="http://schemas.microsoft.com/office/drawing/2014/main" id="{D99BDB87-B2EB-CE22-03AF-D571D480691D}"/>
              </a:ext>
            </a:extLst>
          </p:cNvPr>
          <p:cNvPicPr>
            <a:picLocks noChangeAspect="1"/>
          </p:cNvPicPr>
          <p:nvPr/>
        </p:nvPicPr>
        <p:blipFill>
          <a:blip r:embed="rId4"/>
          <a:stretch>
            <a:fillRect/>
          </a:stretch>
        </p:blipFill>
        <p:spPr>
          <a:xfrm>
            <a:off x="10282136" y="0"/>
            <a:ext cx="1909863" cy="2533881"/>
          </a:xfrm>
          <a:prstGeom prst="rect">
            <a:avLst/>
          </a:prstGeom>
        </p:spPr>
      </p:pic>
      <p:pic>
        <p:nvPicPr>
          <p:cNvPr id="16" name="Picture 15">
            <a:extLst>
              <a:ext uri="{FF2B5EF4-FFF2-40B4-BE49-F238E27FC236}">
                <a16:creationId xmlns:a16="http://schemas.microsoft.com/office/drawing/2014/main" id="{117910C4-AC4F-7FAC-D6B2-D88C88ECF6F0}"/>
              </a:ext>
            </a:extLst>
          </p:cNvPr>
          <p:cNvPicPr>
            <a:picLocks noChangeAspect="1"/>
          </p:cNvPicPr>
          <p:nvPr/>
        </p:nvPicPr>
        <p:blipFill>
          <a:blip r:embed="rId5"/>
          <a:stretch>
            <a:fillRect/>
          </a:stretch>
        </p:blipFill>
        <p:spPr>
          <a:xfrm>
            <a:off x="10583694" y="2350690"/>
            <a:ext cx="1608305" cy="2289404"/>
          </a:xfrm>
          <a:prstGeom prst="rect">
            <a:avLst/>
          </a:prstGeom>
        </p:spPr>
      </p:pic>
      <p:pic>
        <p:nvPicPr>
          <p:cNvPr id="17" name="Picture 16">
            <a:extLst>
              <a:ext uri="{FF2B5EF4-FFF2-40B4-BE49-F238E27FC236}">
                <a16:creationId xmlns:a16="http://schemas.microsoft.com/office/drawing/2014/main" id="{5C0DED40-71DE-CDA3-36BB-415306ACE91C}"/>
              </a:ext>
            </a:extLst>
          </p:cNvPr>
          <p:cNvPicPr>
            <a:picLocks noChangeAspect="1"/>
          </p:cNvPicPr>
          <p:nvPr/>
        </p:nvPicPr>
        <p:blipFill>
          <a:blip r:embed="rId6"/>
          <a:stretch>
            <a:fillRect/>
          </a:stretch>
        </p:blipFill>
        <p:spPr>
          <a:xfrm>
            <a:off x="11021438" y="4640094"/>
            <a:ext cx="1170562" cy="2217906"/>
          </a:xfrm>
          <a:prstGeom prst="rect">
            <a:avLst/>
          </a:prstGeom>
        </p:spPr>
      </p:pic>
    </p:spTree>
    <p:extLst>
      <p:ext uri="{BB962C8B-B14F-4D97-AF65-F5344CB8AC3E}">
        <p14:creationId xmlns:p14="http://schemas.microsoft.com/office/powerpoint/2010/main" val="4176062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A8C60A39-498B-6308-48CB-E6DCDE88B4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0FD2E1-3158-E374-03DB-C119F1D5E9F0}"/>
              </a:ext>
            </a:extLst>
          </p:cNvPr>
          <p:cNvSpPr txBox="1"/>
          <p:nvPr/>
        </p:nvSpPr>
        <p:spPr>
          <a:xfrm>
            <a:off x="1809346" y="114812"/>
            <a:ext cx="8307420" cy="369332"/>
          </a:xfrm>
          <a:prstGeom prst="rect">
            <a:avLst/>
          </a:prstGeom>
          <a:solidFill>
            <a:schemeClr val="bg1"/>
          </a:solidFill>
        </p:spPr>
        <p:txBody>
          <a:bodyPr wrap="square" rtlCol="0">
            <a:spAutoFit/>
          </a:bodyPr>
          <a:lstStyle/>
          <a:p>
            <a:pPr algn="ctr"/>
            <a:r>
              <a:rPr lang="en-US" b="1" dirty="0"/>
              <a:t>3. </a:t>
            </a:r>
            <a:r>
              <a:rPr lang="en-IN" dirty="0"/>
              <a:t>Check how many movies are present in IMDB</a:t>
            </a:r>
            <a:endParaRPr lang="en-IN" b="1" dirty="0"/>
          </a:p>
        </p:txBody>
      </p:sp>
      <p:sp>
        <p:nvSpPr>
          <p:cNvPr id="4" name="TextBox 3">
            <a:extLst>
              <a:ext uri="{FF2B5EF4-FFF2-40B4-BE49-F238E27FC236}">
                <a16:creationId xmlns:a16="http://schemas.microsoft.com/office/drawing/2014/main" id="{DF490CC1-A0CE-47FA-7356-0E9717137AC4}"/>
              </a:ext>
            </a:extLst>
          </p:cNvPr>
          <p:cNvSpPr txBox="1"/>
          <p:nvPr/>
        </p:nvSpPr>
        <p:spPr>
          <a:xfrm>
            <a:off x="311286" y="690663"/>
            <a:ext cx="11196536" cy="3414409"/>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39BC9397-1224-3BC4-F70B-6F7EE6CB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286" y="801329"/>
            <a:ext cx="6068272" cy="1267002"/>
          </a:xfrm>
          <a:prstGeom prst="rect">
            <a:avLst/>
          </a:prstGeom>
        </p:spPr>
      </p:pic>
      <p:pic>
        <p:nvPicPr>
          <p:cNvPr id="9" name="Picture 8">
            <a:extLst>
              <a:ext uri="{FF2B5EF4-FFF2-40B4-BE49-F238E27FC236}">
                <a16:creationId xmlns:a16="http://schemas.microsoft.com/office/drawing/2014/main" id="{E62C939A-2C45-61DF-686C-72BB106C4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5422" y="2397867"/>
            <a:ext cx="2686425" cy="924054"/>
          </a:xfrm>
          <a:prstGeom prst="rect">
            <a:avLst/>
          </a:prstGeom>
        </p:spPr>
      </p:pic>
      <p:pic>
        <p:nvPicPr>
          <p:cNvPr id="16" name="Picture 15">
            <a:extLst>
              <a:ext uri="{FF2B5EF4-FFF2-40B4-BE49-F238E27FC236}">
                <a16:creationId xmlns:a16="http://schemas.microsoft.com/office/drawing/2014/main" id="{4FBCCF31-D68C-4A23-4176-BD76CDC4785D}"/>
              </a:ext>
            </a:extLst>
          </p:cNvPr>
          <p:cNvPicPr>
            <a:picLocks noChangeAspect="1"/>
          </p:cNvPicPr>
          <p:nvPr/>
        </p:nvPicPr>
        <p:blipFill>
          <a:blip r:embed="rId4"/>
          <a:stretch>
            <a:fillRect/>
          </a:stretch>
        </p:blipFill>
        <p:spPr>
          <a:xfrm>
            <a:off x="6728818" y="945732"/>
            <a:ext cx="4429743" cy="2410161"/>
          </a:xfrm>
          <a:prstGeom prst="rect">
            <a:avLst/>
          </a:prstGeom>
        </p:spPr>
      </p:pic>
      <p:sp>
        <p:nvSpPr>
          <p:cNvPr id="18" name="TextBox 17">
            <a:extLst>
              <a:ext uri="{FF2B5EF4-FFF2-40B4-BE49-F238E27FC236}">
                <a16:creationId xmlns:a16="http://schemas.microsoft.com/office/drawing/2014/main" id="{BFA90646-DA67-4EF3-9F42-D27F2AD94541}"/>
              </a:ext>
            </a:extLst>
          </p:cNvPr>
          <p:cNvSpPr txBox="1"/>
          <p:nvPr/>
        </p:nvSpPr>
        <p:spPr>
          <a:xfrm flipH="1">
            <a:off x="311286" y="4290215"/>
            <a:ext cx="11303540" cy="2308324"/>
          </a:xfrm>
          <a:prstGeom prst="rect">
            <a:avLst/>
          </a:prstGeom>
          <a:solidFill>
            <a:schemeClr val="bg2">
              <a:lumMod val="90000"/>
            </a:schemeClr>
          </a:solidFill>
        </p:spPr>
        <p:txBody>
          <a:bodyPr wrap="square" rtlCol="0">
            <a:spAutoFit/>
          </a:bodyPr>
          <a:lstStyle/>
          <a:p>
            <a:r>
              <a:rPr lang="en-US" dirty="0"/>
              <a:t>The dataset consists of 47 movies, representing a focused movie portfolio that allows detailed performance analysis and comparison across key factors such as revenue, budget, and ratings.</a:t>
            </a:r>
          </a:p>
          <a:p>
            <a:endParaRPr lang="en-US" dirty="0"/>
          </a:p>
          <a:p>
            <a:r>
              <a:rPr lang="en-US" b="1" dirty="0"/>
              <a:t>More Business Meaning:-</a:t>
            </a:r>
          </a:p>
          <a:p>
            <a:r>
              <a:rPr lang="en-US" dirty="0"/>
              <a:t>A portfolio of </a:t>
            </a:r>
            <a:r>
              <a:rPr lang="en-US" b="1" dirty="0"/>
              <a:t>47 movies</a:t>
            </a:r>
            <a:r>
              <a:rPr lang="en-US" dirty="0"/>
              <a:t> is: </a:t>
            </a:r>
          </a:p>
          <a:p>
            <a:pPr marL="742950" lvl="1" indent="-285750">
              <a:buFont typeface="Arial" panose="020B0604020202020204" pitchFamily="34" charset="0"/>
              <a:buChar char="•"/>
            </a:pPr>
            <a:r>
              <a:rPr lang="en-US" dirty="0"/>
              <a:t> Manageable for analysis </a:t>
            </a:r>
          </a:p>
          <a:p>
            <a:pPr marL="742950" lvl="1" indent="-285750">
              <a:buFont typeface="Arial" panose="020B0604020202020204" pitchFamily="34" charset="0"/>
              <a:buChar char="•"/>
            </a:pPr>
            <a:r>
              <a:rPr lang="en-US" dirty="0"/>
              <a:t> Suitable for identifying trends </a:t>
            </a:r>
          </a:p>
          <a:p>
            <a:endParaRPr lang="en-IN" dirty="0"/>
          </a:p>
        </p:txBody>
      </p:sp>
      <p:pic>
        <p:nvPicPr>
          <p:cNvPr id="20" name="Picture 19">
            <a:extLst>
              <a:ext uri="{FF2B5EF4-FFF2-40B4-BE49-F238E27FC236}">
                <a16:creationId xmlns:a16="http://schemas.microsoft.com/office/drawing/2014/main" id="{54C997B8-D4A4-3F94-662C-FD2868A0A03A}"/>
              </a:ext>
            </a:extLst>
          </p:cNvPr>
          <p:cNvPicPr>
            <a:picLocks noChangeAspect="1"/>
          </p:cNvPicPr>
          <p:nvPr/>
        </p:nvPicPr>
        <p:blipFill>
          <a:blip r:embed="rId5"/>
          <a:stretch>
            <a:fillRect/>
          </a:stretch>
        </p:blipFill>
        <p:spPr>
          <a:xfrm>
            <a:off x="8756494" y="5048655"/>
            <a:ext cx="1641503" cy="1809345"/>
          </a:xfrm>
          <a:prstGeom prst="rect">
            <a:avLst/>
          </a:prstGeom>
        </p:spPr>
      </p:pic>
      <p:pic>
        <p:nvPicPr>
          <p:cNvPr id="21" name="Picture 20">
            <a:extLst>
              <a:ext uri="{FF2B5EF4-FFF2-40B4-BE49-F238E27FC236}">
                <a16:creationId xmlns:a16="http://schemas.microsoft.com/office/drawing/2014/main" id="{A9938348-7613-613E-F894-98FD5C19ECED}"/>
              </a:ext>
            </a:extLst>
          </p:cNvPr>
          <p:cNvPicPr>
            <a:picLocks noChangeAspect="1"/>
          </p:cNvPicPr>
          <p:nvPr/>
        </p:nvPicPr>
        <p:blipFill>
          <a:blip r:embed="rId6"/>
          <a:stretch>
            <a:fillRect/>
          </a:stretch>
        </p:blipFill>
        <p:spPr>
          <a:xfrm>
            <a:off x="10397997" y="4864909"/>
            <a:ext cx="1794003" cy="1993092"/>
          </a:xfrm>
          <a:prstGeom prst="rect">
            <a:avLst/>
          </a:prstGeom>
        </p:spPr>
      </p:pic>
    </p:spTree>
    <p:extLst>
      <p:ext uri="{BB962C8B-B14F-4D97-AF65-F5344CB8AC3E}">
        <p14:creationId xmlns:p14="http://schemas.microsoft.com/office/powerpoint/2010/main" val="292363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42D05-89A1-7CE3-11F3-A65FE27DD1CF}"/>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dirty="0"/>
              <a:t>4.</a:t>
            </a:r>
            <a:r>
              <a:rPr lang="en-IN" dirty="0"/>
              <a:t> Find these 3 directors: James Cameron ; Luc Besson ; John Woo</a:t>
            </a:r>
          </a:p>
        </p:txBody>
      </p:sp>
      <p:sp>
        <p:nvSpPr>
          <p:cNvPr id="3" name="TextBox 2">
            <a:extLst>
              <a:ext uri="{FF2B5EF4-FFF2-40B4-BE49-F238E27FC236}">
                <a16:creationId xmlns:a16="http://schemas.microsoft.com/office/drawing/2014/main" id="{25EEE807-1F8C-18D6-9E77-3A5011E94D83}"/>
              </a:ext>
            </a:extLst>
          </p:cNvPr>
          <p:cNvSpPr txBox="1"/>
          <p:nvPr/>
        </p:nvSpPr>
        <p:spPr>
          <a:xfrm>
            <a:off x="612843" y="1089498"/>
            <a:ext cx="11089530" cy="2704289"/>
          </a:xfrm>
          <a:prstGeom prst="rect">
            <a:avLst/>
          </a:prstGeom>
          <a:solidFill>
            <a:schemeClr val="bg1"/>
          </a:solidFill>
        </p:spPr>
        <p:txBody>
          <a:bodyPr wrap="square" rtlCol="0">
            <a:spAutoFit/>
          </a:bodyPr>
          <a:lstStyle/>
          <a:p>
            <a:endParaRPr lang="en-IN" dirty="0"/>
          </a:p>
        </p:txBody>
      </p:sp>
      <p:sp>
        <p:nvSpPr>
          <p:cNvPr id="13" name="TextBox 12">
            <a:extLst>
              <a:ext uri="{FF2B5EF4-FFF2-40B4-BE49-F238E27FC236}">
                <a16:creationId xmlns:a16="http://schemas.microsoft.com/office/drawing/2014/main" id="{D66D6C10-2962-4489-F6AB-4478F4E432CF}"/>
              </a:ext>
            </a:extLst>
          </p:cNvPr>
          <p:cNvSpPr txBox="1"/>
          <p:nvPr/>
        </p:nvSpPr>
        <p:spPr>
          <a:xfrm>
            <a:off x="612843" y="4041936"/>
            <a:ext cx="11089530" cy="2523768"/>
          </a:xfrm>
          <a:prstGeom prst="rect">
            <a:avLst/>
          </a:prstGeom>
          <a:solidFill>
            <a:schemeClr val="bg2">
              <a:lumMod val="90000"/>
            </a:schemeClr>
          </a:solidFill>
        </p:spPr>
        <p:txBody>
          <a:bodyPr wrap="square" rtlCol="0">
            <a:spAutoFit/>
          </a:bodyPr>
          <a:lstStyle/>
          <a:p>
            <a:r>
              <a:rPr lang="en-US" sz="2400" b="1" u="sng" dirty="0"/>
              <a:t>Insights:-</a:t>
            </a:r>
          </a:p>
          <a:p>
            <a:r>
              <a:rPr lang="en-US" sz="1400" b="1" dirty="0"/>
              <a:t>Performance Comparison</a:t>
            </a:r>
          </a:p>
          <a:p>
            <a:r>
              <a:rPr lang="en-US" sz="1400" dirty="0"/>
              <a:t>“Among the selected directors, there is a noticeable difference in performance in terms of revenue and movie output.”</a:t>
            </a:r>
          </a:p>
          <a:p>
            <a:r>
              <a:rPr lang="en-US" sz="1400" b="1" dirty="0"/>
              <a:t>Business Insight:</a:t>
            </a:r>
            <a:endParaRPr lang="en-US" sz="1400" dirty="0"/>
          </a:p>
          <a:p>
            <a:r>
              <a:rPr lang="en-US" sz="1400" dirty="0"/>
              <a:t>Not all directors contribute equally </a:t>
            </a:r>
          </a:p>
          <a:p>
            <a:r>
              <a:rPr lang="en-US" sz="1400" dirty="0"/>
              <a:t>Helps identify </a:t>
            </a:r>
            <a:r>
              <a:rPr lang="en-US" sz="1400" b="1" dirty="0"/>
              <a:t>top-performing talent</a:t>
            </a:r>
          </a:p>
          <a:p>
            <a:r>
              <a:rPr lang="en-US" sz="1400" dirty="0"/>
              <a:t>“</a:t>
            </a:r>
            <a:r>
              <a:rPr lang="en-US" sz="1600" b="1" dirty="0"/>
              <a:t>By filtering specific directors, I compared their performance and observed that revenue contribution is uneven, with one director significantly outperforming others. This highlights the importance of director selection in driving movie success and revenue</a:t>
            </a:r>
          </a:p>
          <a:p>
            <a:endParaRPr lang="en-US" sz="1600" b="1" dirty="0"/>
          </a:p>
        </p:txBody>
      </p:sp>
      <p:pic>
        <p:nvPicPr>
          <p:cNvPr id="6" name="Picture 5">
            <a:extLst>
              <a:ext uri="{FF2B5EF4-FFF2-40B4-BE49-F238E27FC236}">
                <a16:creationId xmlns:a16="http://schemas.microsoft.com/office/drawing/2014/main" id="{413780FB-2D47-18F8-E366-CDAFDDB04F8A}"/>
              </a:ext>
            </a:extLst>
          </p:cNvPr>
          <p:cNvPicPr>
            <a:picLocks noChangeAspect="1"/>
          </p:cNvPicPr>
          <p:nvPr/>
        </p:nvPicPr>
        <p:blipFill>
          <a:blip r:embed="rId2"/>
          <a:stretch>
            <a:fillRect/>
          </a:stretch>
        </p:blipFill>
        <p:spPr>
          <a:xfrm>
            <a:off x="1321343" y="2679966"/>
            <a:ext cx="4296375" cy="876422"/>
          </a:xfrm>
          <a:prstGeom prst="rect">
            <a:avLst/>
          </a:prstGeom>
        </p:spPr>
      </p:pic>
      <p:pic>
        <p:nvPicPr>
          <p:cNvPr id="12" name="Picture 11">
            <a:extLst>
              <a:ext uri="{FF2B5EF4-FFF2-40B4-BE49-F238E27FC236}">
                <a16:creationId xmlns:a16="http://schemas.microsoft.com/office/drawing/2014/main" id="{47DBF31F-0A42-9955-F7CB-2AA1A6824E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348" y="1231964"/>
            <a:ext cx="4953760" cy="1210604"/>
          </a:xfrm>
          <a:prstGeom prst="rect">
            <a:avLst/>
          </a:prstGeom>
        </p:spPr>
      </p:pic>
      <p:pic>
        <p:nvPicPr>
          <p:cNvPr id="20" name="Picture 19">
            <a:extLst>
              <a:ext uri="{FF2B5EF4-FFF2-40B4-BE49-F238E27FC236}">
                <a16:creationId xmlns:a16="http://schemas.microsoft.com/office/drawing/2014/main" id="{3A8A7DDF-27C7-FD7C-78EB-E92C985FFD12}"/>
              </a:ext>
            </a:extLst>
          </p:cNvPr>
          <p:cNvPicPr>
            <a:picLocks noChangeAspect="1"/>
          </p:cNvPicPr>
          <p:nvPr/>
        </p:nvPicPr>
        <p:blipFill>
          <a:blip r:embed="rId4"/>
          <a:stretch>
            <a:fillRect/>
          </a:stretch>
        </p:blipFill>
        <p:spPr>
          <a:xfrm>
            <a:off x="6932854" y="1350877"/>
            <a:ext cx="3677163" cy="2181529"/>
          </a:xfrm>
          <a:prstGeom prst="rect">
            <a:avLst/>
          </a:prstGeom>
        </p:spPr>
      </p:pic>
      <p:pic>
        <p:nvPicPr>
          <p:cNvPr id="21" name="Picture 20">
            <a:extLst>
              <a:ext uri="{FF2B5EF4-FFF2-40B4-BE49-F238E27FC236}">
                <a16:creationId xmlns:a16="http://schemas.microsoft.com/office/drawing/2014/main" id="{6BCE31C4-78DD-F7AF-29BF-B5527E7F25A3}"/>
              </a:ext>
            </a:extLst>
          </p:cNvPr>
          <p:cNvPicPr>
            <a:picLocks noChangeAspect="1"/>
          </p:cNvPicPr>
          <p:nvPr/>
        </p:nvPicPr>
        <p:blipFill>
          <a:blip r:embed="rId5"/>
          <a:stretch>
            <a:fillRect/>
          </a:stretch>
        </p:blipFill>
        <p:spPr>
          <a:xfrm>
            <a:off x="10702100" y="0"/>
            <a:ext cx="1489900" cy="2167808"/>
          </a:xfrm>
          <a:prstGeom prst="rect">
            <a:avLst/>
          </a:prstGeom>
        </p:spPr>
      </p:pic>
      <p:pic>
        <p:nvPicPr>
          <p:cNvPr id="22" name="Picture 21">
            <a:extLst>
              <a:ext uri="{FF2B5EF4-FFF2-40B4-BE49-F238E27FC236}">
                <a16:creationId xmlns:a16="http://schemas.microsoft.com/office/drawing/2014/main" id="{7469573C-7DA8-DCD4-89D9-9535B9CD7065}"/>
              </a:ext>
            </a:extLst>
          </p:cNvPr>
          <p:cNvPicPr>
            <a:picLocks noChangeAspect="1"/>
          </p:cNvPicPr>
          <p:nvPr/>
        </p:nvPicPr>
        <p:blipFill>
          <a:blip r:embed="rId6"/>
          <a:stretch>
            <a:fillRect/>
          </a:stretch>
        </p:blipFill>
        <p:spPr>
          <a:xfrm>
            <a:off x="10972800" y="2171093"/>
            <a:ext cx="1219200" cy="2770589"/>
          </a:xfrm>
          <a:prstGeom prst="rect">
            <a:avLst/>
          </a:prstGeom>
        </p:spPr>
      </p:pic>
    </p:spTree>
    <p:extLst>
      <p:ext uri="{BB962C8B-B14F-4D97-AF65-F5344CB8AC3E}">
        <p14:creationId xmlns:p14="http://schemas.microsoft.com/office/powerpoint/2010/main" val="225090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B30434C3-2728-0202-47DC-B1F15DCB5B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F0BB43-4FA9-C2CC-38EE-486A11F22195}"/>
              </a:ext>
            </a:extLst>
          </p:cNvPr>
          <p:cNvSpPr txBox="1"/>
          <p:nvPr/>
        </p:nvSpPr>
        <p:spPr>
          <a:xfrm>
            <a:off x="1332689" y="194554"/>
            <a:ext cx="8968902" cy="646331"/>
          </a:xfrm>
          <a:prstGeom prst="rect">
            <a:avLst/>
          </a:prstGeom>
          <a:solidFill>
            <a:schemeClr val="bg1"/>
          </a:solidFill>
        </p:spPr>
        <p:txBody>
          <a:bodyPr wrap="square" rtlCol="0">
            <a:spAutoFit/>
          </a:bodyPr>
          <a:lstStyle/>
          <a:p>
            <a:pPr algn="ctr"/>
            <a:r>
              <a:rPr lang="en-IN" b="1" dirty="0"/>
              <a:t>5.</a:t>
            </a:r>
            <a:r>
              <a:rPr lang="en-IN" dirty="0"/>
              <a:t> Find all directors with name starting with S.</a:t>
            </a:r>
          </a:p>
          <a:p>
            <a:pPr algn="ctr"/>
            <a:endParaRPr lang="en-IN" b="1" dirty="0"/>
          </a:p>
        </p:txBody>
      </p:sp>
      <p:sp>
        <p:nvSpPr>
          <p:cNvPr id="3" name="TextBox 2">
            <a:extLst>
              <a:ext uri="{FF2B5EF4-FFF2-40B4-BE49-F238E27FC236}">
                <a16:creationId xmlns:a16="http://schemas.microsoft.com/office/drawing/2014/main" id="{5F50606E-10D2-47A8-0409-0A864A1897AA}"/>
              </a:ext>
            </a:extLst>
          </p:cNvPr>
          <p:cNvSpPr txBox="1"/>
          <p:nvPr/>
        </p:nvSpPr>
        <p:spPr>
          <a:xfrm>
            <a:off x="340467" y="1015606"/>
            <a:ext cx="11147900" cy="2845340"/>
          </a:xfrm>
          <a:prstGeom prst="rect">
            <a:avLst/>
          </a:prstGeom>
          <a:solidFill>
            <a:schemeClr val="bg1"/>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864CC7A1-79E9-BD9F-E6CF-FE771E720743}"/>
              </a:ext>
            </a:extLst>
          </p:cNvPr>
          <p:cNvSpPr txBox="1"/>
          <p:nvPr/>
        </p:nvSpPr>
        <p:spPr>
          <a:xfrm flipH="1">
            <a:off x="340466" y="4184529"/>
            <a:ext cx="3132307" cy="2477601"/>
          </a:xfrm>
          <a:prstGeom prst="rect">
            <a:avLst/>
          </a:prstGeom>
          <a:solidFill>
            <a:schemeClr val="bg2">
              <a:lumMod val="90000"/>
            </a:schemeClr>
          </a:solidFill>
        </p:spPr>
        <p:txBody>
          <a:bodyPr wrap="square" rtlCol="0">
            <a:spAutoFit/>
          </a:bodyPr>
          <a:lstStyle/>
          <a:p>
            <a:r>
              <a:rPr lang="en-US" b="1" dirty="0"/>
              <a:t>Small Subset of Directors</a:t>
            </a:r>
          </a:p>
          <a:p>
            <a:r>
              <a:rPr lang="en-US" dirty="0"/>
              <a:t>“Directors whose names start with ‘S’ represent only a small portion of the total director base.”</a:t>
            </a:r>
          </a:p>
          <a:p>
            <a:r>
              <a:rPr lang="en-US" u="sng" dirty="0"/>
              <a:t>Meaning:-</a:t>
            </a:r>
          </a:p>
          <a:p>
            <a:r>
              <a:rPr lang="en-US" dirty="0"/>
              <a:t>Not a dominant group </a:t>
            </a:r>
          </a:p>
          <a:p>
            <a:r>
              <a:rPr lang="en-US" dirty="0"/>
              <a:t>Just a segment of overall </a:t>
            </a:r>
            <a:r>
              <a:rPr lang="en-US" dirty="0" err="1"/>
              <a:t>dat</a:t>
            </a:r>
            <a:endParaRPr lang="en-US" dirty="0"/>
          </a:p>
          <a:p>
            <a:endParaRPr lang="en-US" sz="1100" dirty="0"/>
          </a:p>
        </p:txBody>
      </p:sp>
      <p:sp>
        <p:nvSpPr>
          <p:cNvPr id="13" name="TextBox 12">
            <a:extLst>
              <a:ext uri="{FF2B5EF4-FFF2-40B4-BE49-F238E27FC236}">
                <a16:creationId xmlns:a16="http://schemas.microsoft.com/office/drawing/2014/main" id="{734DC807-E8AC-FD3A-6D4D-174C824BA408}"/>
              </a:ext>
            </a:extLst>
          </p:cNvPr>
          <p:cNvSpPr txBox="1"/>
          <p:nvPr/>
        </p:nvSpPr>
        <p:spPr>
          <a:xfrm>
            <a:off x="3774332" y="4309426"/>
            <a:ext cx="7247106" cy="1477328"/>
          </a:xfrm>
          <a:prstGeom prst="rect">
            <a:avLst/>
          </a:prstGeom>
          <a:solidFill>
            <a:schemeClr val="bg2">
              <a:lumMod val="90000"/>
            </a:schemeClr>
          </a:solidFill>
        </p:spPr>
        <p:txBody>
          <a:bodyPr wrap="square" rtlCol="0">
            <a:spAutoFit/>
          </a:bodyPr>
          <a:lstStyle/>
          <a:p>
            <a:r>
              <a:rPr lang="en-US" b="1" u="sng" dirty="0"/>
              <a:t>Insights:-</a:t>
            </a:r>
          </a:p>
          <a:p>
            <a:r>
              <a:rPr lang="en-US" dirty="0"/>
              <a:t>The analysis shows that directors whose names start with ‘S’ form a small subset of the dataset. While this segmentation does not directly impact business decisions, it is useful for organizing and filtering large datasets for more focused analysis.”</a:t>
            </a:r>
            <a:endParaRPr lang="en-US" b="1" u="sng" dirty="0"/>
          </a:p>
        </p:txBody>
      </p:sp>
      <p:pic>
        <p:nvPicPr>
          <p:cNvPr id="6" name="Picture 5">
            <a:extLst>
              <a:ext uri="{FF2B5EF4-FFF2-40B4-BE49-F238E27FC236}">
                <a16:creationId xmlns:a16="http://schemas.microsoft.com/office/drawing/2014/main" id="{DBB2645B-581B-58EF-3ECE-649F68510818}"/>
              </a:ext>
            </a:extLst>
          </p:cNvPr>
          <p:cNvPicPr>
            <a:picLocks noChangeAspect="1"/>
          </p:cNvPicPr>
          <p:nvPr/>
        </p:nvPicPr>
        <p:blipFill>
          <a:blip r:embed="rId3"/>
          <a:stretch>
            <a:fillRect/>
          </a:stretch>
        </p:blipFill>
        <p:spPr>
          <a:xfrm>
            <a:off x="483293" y="1071246"/>
            <a:ext cx="5077534" cy="1838582"/>
          </a:xfrm>
          <a:prstGeom prst="rect">
            <a:avLst/>
          </a:prstGeom>
        </p:spPr>
      </p:pic>
      <p:pic>
        <p:nvPicPr>
          <p:cNvPr id="15" name="Picture 14">
            <a:extLst>
              <a:ext uri="{FF2B5EF4-FFF2-40B4-BE49-F238E27FC236}">
                <a16:creationId xmlns:a16="http://schemas.microsoft.com/office/drawing/2014/main" id="{6672A256-CBD8-16ED-4A04-8A0EE2BC7D36}"/>
              </a:ext>
            </a:extLst>
          </p:cNvPr>
          <p:cNvPicPr>
            <a:picLocks noChangeAspect="1"/>
          </p:cNvPicPr>
          <p:nvPr/>
        </p:nvPicPr>
        <p:blipFill>
          <a:blip r:embed="rId4"/>
          <a:stretch>
            <a:fillRect/>
          </a:stretch>
        </p:blipFill>
        <p:spPr>
          <a:xfrm>
            <a:off x="4755180" y="1234633"/>
            <a:ext cx="2534004" cy="2457793"/>
          </a:xfrm>
          <a:prstGeom prst="rect">
            <a:avLst/>
          </a:prstGeom>
        </p:spPr>
      </p:pic>
      <p:pic>
        <p:nvPicPr>
          <p:cNvPr id="17" name="Picture 16">
            <a:extLst>
              <a:ext uri="{FF2B5EF4-FFF2-40B4-BE49-F238E27FC236}">
                <a16:creationId xmlns:a16="http://schemas.microsoft.com/office/drawing/2014/main" id="{58465407-F64D-232C-E3CE-2D7C8E311897}"/>
              </a:ext>
            </a:extLst>
          </p:cNvPr>
          <p:cNvPicPr>
            <a:picLocks noChangeAspect="1"/>
          </p:cNvPicPr>
          <p:nvPr/>
        </p:nvPicPr>
        <p:blipFill>
          <a:blip r:embed="rId5"/>
          <a:stretch>
            <a:fillRect/>
          </a:stretch>
        </p:blipFill>
        <p:spPr>
          <a:xfrm>
            <a:off x="7587574" y="1839554"/>
            <a:ext cx="3725694" cy="1247949"/>
          </a:xfrm>
          <a:prstGeom prst="rect">
            <a:avLst/>
          </a:prstGeom>
        </p:spPr>
      </p:pic>
      <p:pic>
        <p:nvPicPr>
          <p:cNvPr id="18" name="Picture 17">
            <a:extLst>
              <a:ext uri="{FF2B5EF4-FFF2-40B4-BE49-F238E27FC236}">
                <a16:creationId xmlns:a16="http://schemas.microsoft.com/office/drawing/2014/main" id="{9DF4B5A4-77D2-7B1C-5727-3DBCAFCD20F8}"/>
              </a:ext>
            </a:extLst>
          </p:cNvPr>
          <p:cNvPicPr>
            <a:picLocks noChangeAspect="1"/>
          </p:cNvPicPr>
          <p:nvPr/>
        </p:nvPicPr>
        <p:blipFill>
          <a:blip r:embed="rId6"/>
          <a:stretch>
            <a:fillRect/>
          </a:stretch>
        </p:blipFill>
        <p:spPr>
          <a:xfrm>
            <a:off x="7652651" y="5801947"/>
            <a:ext cx="1344368" cy="1040860"/>
          </a:xfrm>
          <a:prstGeom prst="rect">
            <a:avLst/>
          </a:prstGeom>
          <a:effectLst>
            <a:outerShdw blurRad="50800" dist="50800" dir="5400000" algn="ctr" rotWithShape="0">
              <a:schemeClr val="tx1"/>
            </a:outerShdw>
          </a:effectLst>
        </p:spPr>
      </p:pic>
      <p:pic>
        <p:nvPicPr>
          <p:cNvPr id="19" name="Picture 18">
            <a:extLst>
              <a:ext uri="{FF2B5EF4-FFF2-40B4-BE49-F238E27FC236}">
                <a16:creationId xmlns:a16="http://schemas.microsoft.com/office/drawing/2014/main" id="{2038B50F-5E8B-0CF6-D2F9-E4628A148CE9}"/>
              </a:ext>
            </a:extLst>
          </p:cNvPr>
          <p:cNvPicPr>
            <a:picLocks noChangeAspect="1"/>
          </p:cNvPicPr>
          <p:nvPr/>
        </p:nvPicPr>
        <p:blipFill>
          <a:blip r:embed="rId7"/>
          <a:stretch>
            <a:fillRect/>
          </a:stretch>
        </p:blipFill>
        <p:spPr>
          <a:xfrm>
            <a:off x="9008815" y="5798885"/>
            <a:ext cx="2012623" cy="1040860"/>
          </a:xfrm>
          <a:prstGeom prst="rect">
            <a:avLst/>
          </a:prstGeom>
        </p:spPr>
      </p:pic>
      <p:pic>
        <p:nvPicPr>
          <p:cNvPr id="20" name="Picture 19">
            <a:extLst>
              <a:ext uri="{FF2B5EF4-FFF2-40B4-BE49-F238E27FC236}">
                <a16:creationId xmlns:a16="http://schemas.microsoft.com/office/drawing/2014/main" id="{EFDA04C1-AA54-BE2B-BF49-6E632C80D046}"/>
              </a:ext>
            </a:extLst>
          </p:cNvPr>
          <p:cNvPicPr>
            <a:picLocks noChangeAspect="1"/>
          </p:cNvPicPr>
          <p:nvPr/>
        </p:nvPicPr>
        <p:blipFill>
          <a:blip r:embed="rId8"/>
          <a:stretch>
            <a:fillRect/>
          </a:stretch>
        </p:blipFill>
        <p:spPr>
          <a:xfrm>
            <a:off x="11021438" y="4684894"/>
            <a:ext cx="1170562" cy="2173106"/>
          </a:xfrm>
          <a:prstGeom prst="rect">
            <a:avLst/>
          </a:prstGeom>
        </p:spPr>
      </p:pic>
      <p:pic>
        <p:nvPicPr>
          <p:cNvPr id="21" name="Picture 20">
            <a:extLst>
              <a:ext uri="{FF2B5EF4-FFF2-40B4-BE49-F238E27FC236}">
                <a16:creationId xmlns:a16="http://schemas.microsoft.com/office/drawing/2014/main" id="{9054B822-E4EA-EBE3-D7A4-E2E87377CE29}"/>
              </a:ext>
            </a:extLst>
          </p:cNvPr>
          <p:cNvPicPr>
            <a:picLocks noChangeAspect="1"/>
          </p:cNvPicPr>
          <p:nvPr/>
        </p:nvPicPr>
        <p:blipFill>
          <a:blip r:embed="rId9"/>
          <a:stretch>
            <a:fillRect/>
          </a:stretch>
        </p:blipFill>
        <p:spPr>
          <a:xfrm>
            <a:off x="6296487" y="5786754"/>
            <a:ext cx="1356164" cy="1040860"/>
          </a:xfrm>
          <a:prstGeom prst="rect">
            <a:avLst/>
          </a:prstGeom>
          <a:effectLst>
            <a:outerShdw blurRad="50800" dist="50800" dir="5400000" algn="ctr" rotWithShape="0">
              <a:schemeClr val="tx1"/>
            </a:outerShdw>
          </a:effectLst>
        </p:spPr>
      </p:pic>
      <p:pic>
        <p:nvPicPr>
          <p:cNvPr id="22" name="Picture 21">
            <a:extLst>
              <a:ext uri="{FF2B5EF4-FFF2-40B4-BE49-F238E27FC236}">
                <a16:creationId xmlns:a16="http://schemas.microsoft.com/office/drawing/2014/main" id="{BCA06EEB-FE9E-5C68-4BBD-7DC669145308}"/>
              </a:ext>
            </a:extLst>
          </p:cNvPr>
          <p:cNvPicPr>
            <a:picLocks noChangeAspect="1"/>
          </p:cNvPicPr>
          <p:nvPr/>
        </p:nvPicPr>
        <p:blipFill>
          <a:blip r:embed="rId10"/>
          <a:stretch>
            <a:fillRect/>
          </a:stretch>
        </p:blipFill>
        <p:spPr>
          <a:xfrm>
            <a:off x="4949468" y="5811016"/>
            <a:ext cx="1347019" cy="1046984"/>
          </a:xfrm>
          <a:prstGeom prst="rect">
            <a:avLst/>
          </a:prstGeom>
        </p:spPr>
      </p:pic>
      <p:pic>
        <p:nvPicPr>
          <p:cNvPr id="23" name="Picture 22">
            <a:extLst>
              <a:ext uri="{FF2B5EF4-FFF2-40B4-BE49-F238E27FC236}">
                <a16:creationId xmlns:a16="http://schemas.microsoft.com/office/drawing/2014/main" id="{26527E82-F5FD-1D3E-22D7-2DFD8C7E97AB}"/>
              </a:ext>
            </a:extLst>
          </p:cNvPr>
          <p:cNvPicPr>
            <a:picLocks noChangeAspect="1"/>
          </p:cNvPicPr>
          <p:nvPr/>
        </p:nvPicPr>
        <p:blipFill>
          <a:blip r:embed="rId6"/>
          <a:stretch>
            <a:fillRect/>
          </a:stretch>
        </p:blipFill>
        <p:spPr>
          <a:xfrm>
            <a:off x="3472773" y="5811016"/>
            <a:ext cx="1479346" cy="1016598"/>
          </a:xfrm>
          <a:prstGeom prst="rect">
            <a:avLst/>
          </a:prstGeom>
          <a:effectLst>
            <a:outerShdw blurRad="50800" dist="50800" dir="5400000" algn="ctr" rotWithShape="0">
              <a:schemeClr val="tx1"/>
            </a:outerShdw>
          </a:effectLst>
        </p:spPr>
      </p:pic>
      <p:pic>
        <p:nvPicPr>
          <p:cNvPr id="24" name="Picture 23">
            <a:extLst>
              <a:ext uri="{FF2B5EF4-FFF2-40B4-BE49-F238E27FC236}">
                <a16:creationId xmlns:a16="http://schemas.microsoft.com/office/drawing/2014/main" id="{16219A65-FF89-B281-CEEF-DC615DB9F720}"/>
              </a:ext>
            </a:extLst>
          </p:cNvPr>
          <p:cNvPicPr>
            <a:picLocks noChangeAspect="1"/>
          </p:cNvPicPr>
          <p:nvPr/>
        </p:nvPicPr>
        <p:blipFill>
          <a:blip r:embed="rId7"/>
          <a:stretch>
            <a:fillRect/>
          </a:stretch>
        </p:blipFill>
        <p:spPr>
          <a:xfrm>
            <a:off x="10404632" y="18255"/>
            <a:ext cx="1787368" cy="991286"/>
          </a:xfrm>
          <a:prstGeom prst="rect">
            <a:avLst/>
          </a:prstGeom>
        </p:spPr>
      </p:pic>
      <p:pic>
        <p:nvPicPr>
          <p:cNvPr id="25" name="Picture 24">
            <a:extLst>
              <a:ext uri="{FF2B5EF4-FFF2-40B4-BE49-F238E27FC236}">
                <a16:creationId xmlns:a16="http://schemas.microsoft.com/office/drawing/2014/main" id="{CC85B583-84A5-CFE6-9371-5AE8DBD219E0}"/>
              </a:ext>
            </a:extLst>
          </p:cNvPr>
          <p:cNvPicPr>
            <a:picLocks noChangeAspect="1"/>
          </p:cNvPicPr>
          <p:nvPr/>
        </p:nvPicPr>
        <p:blipFill>
          <a:blip r:embed="rId10"/>
          <a:stretch>
            <a:fillRect/>
          </a:stretch>
        </p:blipFill>
        <p:spPr>
          <a:xfrm>
            <a:off x="11488367" y="1009541"/>
            <a:ext cx="703633" cy="2298252"/>
          </a:xfrm>
          <a:prstGeom prst="rect">
            <a:avLst/>
          </a:prstGeom>
        </p:spPr>
      </p:pic>
    </p:spTree>
    <p:extLst>
      <p:ext uri="{BB962C8B-B14F-4D97-AF65-F5344CB8AC3E}">
        <p14:creationId xmlns:p14="http://schemas.microsoft.com/office/powerpoint/2010/main" val="16820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BA01A1C6-AB8E-363D-98F8-3C4DF97B0C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27BBC7-D60A-42D1-D109-AE70A021FB08}"/>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6.</a:t>
            </a:r>
            <a:r>
              <a:rPr lang="en-IN" dirty="0"/>
              <a:t> Count female directors</a:t>
            </a:r>
            <a:endParaRPr lang="en-IN" b="1" dirty="0"/>
          </a:p>
        </p:txBody>
      </p:sp>
      <p:sp>
        <p:nvSpPr>
          <p:cNvPr id="3" name="TextBox 2">
            <a:extLst>
              <a:ext uri="{FF2B5EF4-FFF2-40B4-BE49-F238E27FC236}">
                <a16:creationId xmlns:a16="http://schemas.microsoft.com/office/drawing/2014/main" id="{3FFE9A76-CE03-1DAC-A404-96D2F7C19882}"/>
              </a:ext>
            </a:extLst>
          </p:cNvPr>
          <p:cNvSpPr txBox="1"/>
          <p:nvPr/>
        </p:nvSpPr>
        <p:spPr>
          <a:xfrm>
            <a:off x="405732" y="875489"/>
            <a:ext cx="11391088" cy="3107987"/>
          </a:xfrm>
          <a:prstGeom prst="rect">
            <a:avLst/>
          </a:prstGeom>
          <a:solidFill>
            <a:schemeClr val="bg1"/>
          </a:solidFill>
        </p:spPr>
        <p:txBody>
          <a:bodyPr wrap="square" rtlCol="0">
            <a:spAutoFit/>
          </a:bodyPr>
          <a:lstStyle/>
          <a:p>
            <a:endParaRPr lang="en-IN" dirty="0"/>
          </a:p>
        </p:txBody>
      </p:sp>
      <p:sp>
        <p:nvSpPr>
          <p:cNvPr id="12" name="TextBox 11">
            <a:extLst>
              <a:ext uri="{FF2B5EF4-FFF2-40B4-BE49-F238E27FC236}">
                <a16:creationId xmlns:a16="http://schemas.microsoft.com/office/drawing/2014/main" id="{A084B5CF-BD5A-F264-B268-3961D0710C35}"/>
              </a:ext>
            </a:extLst>
          </p:cNvPr>
          <p:cNvSpPr txBox="1"/>
          <p:nvPr/>
        </p:nvSpPr>
        <p:spPr>
          <a:xfrm>
            <a:off x="405732" y="4493622"/>
            <a:ext cx="3754876" cy="2308324"/>
          </a:xfrm>
          <a:prstGeom prst="rect">
            <a:avLst/>
          </a:prstGeom>
          <a:solidFill>
            <a:schemeClr val="bg2">
              <a:lumMod val="90000"/>
            </a:schemeClr>
          </a:solidFill>
        </p:spPr>
        <p:txBody>
          <a:bodyPr wrap="square" rtlCol="0">
            <a:spAutoFit/>
          </a:bodyPr>
          <a:lstStyle/>
          <a:p>
            <a:r>
              <a:rPr lang="en-US" b="1" dirty="0"/>
              <a:t>Female Representation Exists but Limited</a:t>
            </a:r>
          </a:p>
          <a:p>
            <a:r>
              <a:rPr lang="en-US" dirty="0"/>
              <a:t>“The dataset contains 150 female directors, indicating presence but limited representation.”</a:t>
            </a:r>
          </a:p>
          <a:p>
            <a:r>
              <a:rPr lang="en-US" dirty="0"/>
              <a:t>Meaning:</a:t>
            </a:r>
          </a:p>
          <a:p>
            <a:r>
              <a:rPr lang="en-US" dirty="0"/>
              <a:t>Female directors are </a:t>
            </a:r>
            <a:r>
              <a:rPr lang="en-US" b="1" dirty="0"/>
              <a:t>not dominant</a:t>
            </a:r>
            <a:r>
              <a:rPr lang="en-US" dirty="0"/>
              <a:t> </a:t>
            </a:r>
          </a:p>
          <a:p>
            <a:endParaRPr lang="en-IN" dirty="0"/>
          </a:p>
        </p:txBody>
      </p:sp>
      <p:sp>
        <p:nvSpPr>
          <p:cNvPr id="13" name="TextBox 12">
            <a:extLst>
              <a:ext uri="{FF2B5EF4-FFF2-40B4-BE49-F238E27FC236}">
                <a16:creationId xmlns:a16="http://schemas.microsoft.com/office/drawing/2014/main" id="{53D9BF38-0BB3-585D-76D1-8A1EFB849347}"/>
              </a:ext>
            </a:extLst>
          </p:cNvPr>
          <p:cNvSpPr txBox="1"/>
          <p:nvPr/>
        </p:nvSpPr>
        <p:spPr>
          <a:xfrm>
            <a:off x="4394437" y="4173167"/>
            <a:ext cx="5673692" cy="1477328"/>
          </a:xfrm>
          <a:prstGeom prst="rect">
            <a:avLst/>
          </a:prstGeom>
          <a:solidFill>
            <a:schemeClr val="bg2">
              <a:lumMod val="90000"/>
            </a:schemeClr>
          </a:solidFill>
        </p:spPr>
        <p:txBody>
          <a:bodyPr wrap="square" rtlCol="0">
            <a:spAutoFit/>
          </a:bodyPr>
          <a:lstStyle/>
          <a:p>
            <a:r>
              <a:rPr lang="en-US" b="1" u="sng" dirty="0"/>
              <a:t>Insights:-</a:t>
            </a:r>
          </a:p>
          <a:p>
            <a:r>
              <a:rPr lang="en-US" dirty="0"/>
              <a:t>The analysis shows that only 150 out of over 2000 directors are female, highlighting a significant gender imbalance. This indicates an opportunity for the industry to improve diversity and better utilize untapped talent.”</a:t>
            </a:r>
            <a:endParaRPr lang="en-US" b="1" u="sng" dirty="0"/>
          </a:p>
        </p:txBody>
      </p:sp>
      <p:pic>
        <p:nvPicPr>
          <p:cNvPr id="6" name="Picture 5">
            <a:extLst>
              <a:ext uri="{FF2B5EF4-FFF2-40B4-BE49-F238E27FC236}">
                <a16:creationId xmlns:a16="http://schemas.microsoft.com/office/drawing/2014/main" id="{206BA029-C9E9-2908-92BD-5C77A21F2149}"/>
              </a:ext>
            </a:extLst>
          </p:cNvPr>
          <p:cNvPicPr>
            <a:picLocks noChangeAspect="1"/>
          </p:cNvPicPr>
          <p:nvPr/>
        </p:nvPicPr>
        <p:blipFill>
          <a:blip r:embed="rId3"/>
          <a:stretch>
            <a:fillRect/>
          </a:stretch>
        </p:blipFill>
        <p:spPr>
          <a:xfrm>
            <a:off x="524079" y="1040860"/>
            <a:ext cx="4334480" cy="857370"/>
          </a:xfrm>
          <a:prstGeom prst="rect">
            <a:avLst/>
          </a:prstGeom>
        </p:spPr>
      </p:pic>
      <p:pic>
        <p:nvPicPr>
          <p:cNvPr id="10" name="Picture 9">
            <a:extLst>
              <a:ext uri="{FF2B5EF4-FFF2-40B4-BE49-F238E27FC236}">
                <a16:creationId xmlns:a16="http://schemas.microsoft.com/office/drawing/2014/main" id="{66CB8AE4-6B2E-AC22-0B9E-3A41247F84AF}"/>
              </a:ext>
            </a:extLst>
          </p:cNvPr>
          <p:cNvPicPr>
            <a:picLocks noChangeAspect="1"/>
          </p:cNvPicPr>
          <p:nvPr/>
        </p:nvPicPr>
        <p:blipFill>
          <a:blip r:embed="rId4"/>
          <a:stretch>
            <a:fillRect/>
          </a:stretch>
        </p:blipFill>
        <p:spPr>
          <a:xfrm>
            <a:off x="2344366" y="2442422"/>
            <a:ext cx="3180945" cy="1012689"/>
          </a:xfrm>
          <a:prstGeom prst="rect">
            <a:avLst/>
          </a:prstGeom>
        </p:spPr>
      </p:pic>
      <p:pic>
        <p:nvPicPr>
          <p:cNvPr id="16" name="Picture 15">
            <a:extLst>
              <a:ext uri="{FF2B5EF4-FFF2-40B4-BE49-F238E27FC236}">
                <a16:creationId xmlns:a16="http://schemas.microsoft.com/office/drawing/2014/main" id="{92137967-A123-72E2-A047-D5C117636F6B}"/>
              </a:ext>
            </a:extLst>
          </p:cNvPr>
          <p:cNvPicPr>
            <a:picLocks noChangeAspect="1"/>
          </p:cNvPicPr>
          <p:nvPr/>
        </p:nvPicPr>
        <p:blipFill>
          <a:blip r:embed="rId5"/>
          <a:stretch>
            <a:fillRect/>
          </a:stretch>
        </p:blipFill>
        <p:spPr>
          <a:xfrm>
            <a:off x="7609499" y="1771748"/>
            <a:ext cx="2381582" cy="1505160"/>
          </a:xfrm>
          <a:prstGeom prst="rect">
            <a:avLst/>
          </a:prstGeom>
        </p:spPr>
      </p:pic>
      <p:pic>
        <p:nvPicPr>
          <p:cNvPr id="17" name="Picture 16">
            <a:extLst>
              <a:ext uri="{FF2B5EF4-FFF2-40B4-BE49-F238E27FC236}">
                <a16:creationId xmlns:a16="http://schemas.microsoft.com/office/drawing/2014/main" id="{4F1B2682-A634-775C-ABCA-7EE2FB5B3AE0}"/>
              </a:ext>
            </a:extLst>
          </p:cNvPr>
          <p:cNvPicPr>
            <a:picLocks noChangeAspect="1"/>
          </p:cNvPicPr>
          <p:nvPr/>
        </p:nvPicPr>
        <p:blipFill>
          <a:blip r:embed="rId6"/>
          <a:stretch>
            <a:fillRect/>
          </a:stretch>
        </p:blipFill>
        <p:spPr>
          <a:xfrm>
            <a:off x="4201982" y="5679716"/>
            <a:ext cx="2248563" cy="1122230"/>
          </a:xfrm>
          <a:prstGeom prst="rect">
            <a:avLst/>
          </a:prstGeom>
          <a:effectLst>
            <a:outerShdw blurRad="50800" dist="50800" dir="5400000" algn="ctr" rotWithShape="0">
              <a:schemeClr val="tx1"/>
            </a:outerShdw>
          </a:effectLst>
        </p:spPr>
      </p:pic>
      <p:pic>
        <p:nvPicPr>
          <p:cNvPr id="18" name="Picture 17">
            <a:extLst>
              <a:ext uri="{FF2B5EF4-FFF2-40B4-BE49-F238E27FC236}">
                <a16:creationId xmlns:a16="http://schemas.microsoft.com/office/drawing/2014/main" id="{36FB4129-DD05-A759-0E89-3703FCEF1D60}"/>
              </a:ext>
            </a:extLst>
          </p:cNvPr>
          <p:cNvPicPr>
            <a:picLocks noChangeAspect="1"/>
          </p:cNvPicPr>
          <p:nvPr/>
        </p:nvPicPr>
        <p:blipFill>
          <a:blip r:embed="rId7"/>
          <a:stretch>
            <a:fillRect/>
          </a:stretch>
        </p:blipFill>
        <p:spPr>
          <a:xfrm>
            <a:off x="6450545" y="5679716"/>
            <a:ext cx="1347019" cy="1178284"/>
          </a:xfrm>
          <a:prstGeom prst="rect">
            <a:avLst/>
          </a:prstGeom>
        </p:spPr>
      </p:pic>
      <p:pic>
        <p:nvPicPr>
          <p:cNvPr id="19" name="Picture 18">
            <a:extLst>
              <a:ext uri="{FF2B5EF4-FFF2-40B4-BE49-F238E27FC236}">
                <a16:creationId xmlns:a16="http://schemas.microsoft.com/office/drawing/2014/main" id="{9FF779BE-4FFF-7FF2-331E-0B8AD87A377D}"/>
              </a:ext>
            </a:extLst>
          </p:cNvPr>
          <p:cNvPicPr>
            <a:picLocks noChangeAspect="1"/>
          </p:cNvPicPr>
          <p:nvPr/>
        </p:nvPicPr>
        <p:blipFill>
          <a:blip r:embed="rId8"/>
          <a:stretch>
            <a:fillRect/>
          </a:stretch>
        </p:blipFill>
        <p:spPr>
          <a:xfrm>
            <a:off x="7797564" y="5679716"/>
            <a:ext cx="1356164" cy="1122230"/>
          </a:xfrm>
          <a:prstGeom prst="rect">
            <a:avLst/>
          </a:prstGeom>
          <a:effectLst>
            <a:outerShdw blurRad="50800" dist="50800" dir="5400000" algn="ctr" rotWithShape="0">
              <a:schemeClr val="tx1">
                <a:lumMod val="50000"/>
                <a:lumOff val="50000"/>
              </a:schemeClr>
            </a:outerShdw>
          </a:effectLst>
        </p:spPr>
      </p:pic>
      <p:pic>
        <p:nvPicPr>
          <p:cNvPr id="20" name="Picture 19">
            <a:extLst>
              <a:ext uri="{FF2B5EF4-FFF2-40B4-BE49-F238E27FC236}">
                <a16:creationId xmlns:a16="http://schemas.microsoft.com/office/drawing/2014/main" id="{712C086D-4A0E-EE57-4347-4630A4C1FA0C}"/>
              </a:ext>
            </a:extLst>
          </p:cNvPr>
          <p:cNvPicPr>
            <a:picLocks noChangeAspect="1"/>
          </p:cNvPicPr>
          <p:nvPr/>
        </p:nvPicPr>
        <p:blipFill>
          <a:blip r:embed="rId9"/>
          <a:stretch>
            <a:fillRect/>
          </a:stretch>
        </p:blipFill>
        <p:spPr>
          <a:xfrm>
            <a:off x="10301958" y="3983476"/>
            <a:ext cx="1890042" cy="2874524"/>
          </a:xfrm>
          <a:prstGeom prst="rect">
            <a:avLst/>
          </a:prstGeom>
        </p:spPr>
      </p:pic>
      <p:pic>
        <p:nvPicPr>
          <p:cNvPr id="21" name="Picture 20">
            <a:extLst>
              <a:ext uri="{FF2B5EF4-FFF2-40B4-BE49-F238E27FC236}">
                <a16:creationId xmlns:a16="http://schemas.microsoft.com/office/drawing/2014/main" id="{C5C7C60B-193A-5C0A-283F-09B2BB087289}"/>
              </a:ext>
            </a:extLst>
          </p:cNvPr>
          <p:cNvPicPr>
            <a:picLocks noChangeAspect="1"/>
          </p:cNvPicPr>
          <p:nvPr/>
        </p:nvPicPr>
        <p:blipFill>
          <a:blip r:embed="rId6"/>
          <a:stretch>
            <a:fillRect/>
          </a:stretch>
        </p:blipFill>
        <p:spPr>
          <a:xfrm>
            <a:off x="9153728" y="5679716"/>
            <a:ext cx="1148230" cy="1122230"/>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117562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9CFC3D97-F2F0-0926-C3D4-6F251BF2E2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1527BD-0180-D0EA-497D-67858F31FB5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7.</a:t>
            </a:r>
            <a:r>
              <a:rPr lang="en-IN" dirty="0"/>
              <a:t> Find the name of the 10th first women directors?</a:t>
            </a:r>
          </a:p>
        </p:txBody>
      </p:sp>
      <p:sp>
        <p:nvSpPr>
          <p:cNvPr id="3" name="TextBox 2">
            <a:extLst>
              <a:ext uri="{FF2B5EF4-FFF2-40B4-BE49-F238E27FC236}">
                <a16:creationId xmlns:a16="http://schemas.microsoft.com/office/drawing/2014/main" id="{0BECABD9-02F2-E484-A6EF-514AC7A72BF9}"/>
              </a:ext>
            </a:extLst>
          </p:cNvPr>
          <p:cNvSpPr txBox="1"/>
          <p:nvPr/>
        </p:nvSpPr>
        <p:spPr>
          <a:xfrm>
            <a:off x="359922" y="875489"/>
            <a:ext cx="11638571" cy="3010711"/>
          </a:xfrm>
          <a:prstGeom prst="rect">
            <a:avLst/>
          </a:prstGeom>
          <a:solidFill>
            <a:schemeClr val="bg1"/>
          </a:solidFill>
        </p:spPr>
        <p:txBody>
          <a:bodyPr wrap="square" rtlCol="0">
            <a:spAutoFit/>
          </a:bodyPr>
          <a:lstStyle/>
          <a:p>
            <a:endParaRPr lang="en-IN" dirty="0"/>
          </a:p>
        </p:txBody>
      </p:sp>
      <p:pic>
        <p:nvPicPr>
          <p:cNvPr id="6" name="Picture 5">
            <a:extLst>
              <a:ext uri="{FF2B5EF4-FFF2-40B4-BE49-F238E27FC236}">
                <a16:creationId xmlns:a16="http://schemas.microsoft.com/office/drawing/2014/main" id="{C223134B-C447-411D-12CF-0D3D93CD8518}"/>
              </a:ext>
            </a:extLst>
          </p:cNvPr>
          <p:cNvPicPr>
            <a:picLocks noChangeAspect="1"/>
          </p:cNvPicPr>
          <p:nvPr/>
        </p:nvPicPr>
        <p:blipFill>
          <a:blip r:embed="rId2"/>
          <a:stretch>
            <a:fillRect/>
          </a:stretch>
        </p:blipFill>
        <p:spPr>
          <a:xfrm>
            <a:off x="359923" y="1017264"/>
            <a:ext cx="5020376" cy="2362530"/>
          </a:xfrm>
          <a:prstGeom prst="rect">
            <a:avLst/>
          </a:prstGeom>
        </p:spPr>
      </p:pic>
      <p:pic>
        <p:nvPicPr>
          <p:cNvPr id="10" name="Picture 9">
            <a:extLst>
              <a:ext uri="{FF2B5EF4-FFF2-40B4-BE49-F238E27FC236}">
                <a16:creationId xmlns:a16="http://schemas.microsoft.com/office/drawing/2014/main" id="{59387E6B-9848-9DE0-1F33-C40A4ED62786}"/>
              </a:ext>
            </a:extLst>
          </p:cNvPr>
          <p:cNvPicPr>
            <a:picLocks noChangeAspect="1"/>
          </p:cNvPicPr>
          <p:nvPr/>
        </p:nvPicPr>
        <p:blipFill>
          <a:blip r:embed="rId3"/>
          <a:stretch>
            <a:fillRect/>
          </a:stretch>
        </p:blipFill>
        <p:spPr>
          <a:xfrm>
            <a:off x="5262666" y="3212651"/>
            <a:ext cx="1857634" cy="600159"/>
          </a:xfrm>
          <a:prstGeom prst="rect">
            <a:avLst/>
          </a:prstGeom>
        </p:spPr>
      </p:pic>
      <p:pic>
        <p:nvPicPr>
          <p:cNvPr id="16" name="Picture 15">
            <a:extLst>
              <a:ext uri="{FF2B5EF4-FFF2-40B4-BE49-F238E27FC236}">
                <a16:creationId xmlns:a16="http://schemas.microsoft.com/office/drawing/2014/main" id="{642ADABE-113D-525E-FCB3-B77F58BBDFE1}"/>
              </a:ext>
            </a:extLst>
          </p:cNvPr>
          <p:cNvPicPr>
            <a:picLocks noChangeAspect="1"/>
          </p:cNvPicPr>
          <p:nvPr/>
        </p:nvPicPr>
        <p:blipFill>
          <a:blip r:embed="rId4"/>
          <a:stretch>
            <a:fillRect/>
          </a:stretch>
        </p:blipFill>
        <p:spPr>
          <a:xfrm>
            <a:off x="5182699" y="1227794"/>
            <a:ext cx="6649378" cy="1829055"/>
          </a:xfrm>
          <a:prstGeom prst="rect">
            <a:avLst/>
          </a:prstGeom>
        </p:spPr>
      </p:pic>
      <p:sp>
        <p:nvSpPr>
          <p:cNvPr id="18" name="TextBox 17">
            <a:extLst>
              <a:ext uri="{FF2B5EF4-FFF2-40B4-BE49-F238E27FC236}">
                <a16:creationId xmlns:a16="http://schemas.microsoft.com/office/drawing/2014/main" id="{3B2D53D3-8298-939B-174D-81264FAD728C}"/>
              </a:ext>
            </a:extLst>
          </p:cNvPr>
          <p:cNvSpPr txBox="1"/>
          <p:nvPr/>
        </p:nvSpPr>
        <p:spPr>
          <a:xfrm>
            <a:off x="325876" y="3968612"/>
            <a:ext cx="10739336" cy="2831544"/>
          </a:xfrm>
          <a:prstGeom prst="rect">
            <a:avLst/>
          </a:prstGeom>
          <a:solidFill>
            <a:schemeClr val="bg2">
              <a:lumMod val="90000"/>
            </a:schemeClr>
          </a:solidFill>
        </p:spPr>
        <p:txBody>
          <a:bodyPr wrap="square" rtlCol="0">
            <a:spAutoFit/>
          </a:bodyPr>
          <a:lstStyle/>
          <a:p>
            <a:pPr algn="ctr"/>
            <a:r>
              <a:rPr lang="en-US" dirty="0"/>
              <a:t>Insights:-</a:t>
            </a:r>
          </a:p>
          <a:p>
            <a:r>
              <a:rPr lang="en-US" sz="1400" b="1" dirty="0"/>
              <a:t>Ordered Identification</a:t>
            </a:r>
          </a:p>
          <a:p>
            <a:r>
              <a:rPr lang="en-US" sz="1400" dirty="0"/>
              <a:t>“The 10th female director identified based on ID ordering is Angelina Jolie.”</a:t>
            </a:r>
          </a:p>
          <a:p>
            <a:r>
              <a:rPr lang="en-US" sz="1400" dirty="0"/>
              <a:t>👉 Meaning:</a:t>
            </a:r>
          </a:p>
          <a:p>
            <a:r>
              <a:rPr lang="en-US" sz="1400" dirty="0"/>
              <a:t>Data is being analyzed in a </a:t>
            </a:r>
            <a:r>
              <a:rPr lang="en-US" sz="1400" b="1" dirty="0"/>
              <a:t>structured sequence</a:t>
            </a:r>
            <a:r>
              <a:rPr lang="en-US" sz="1400" dirty="0"/>
              <a:t> </a:t>
            </a:r>
          </a:p>
          <a:p>
            <a:r>
              <a:rPr lang="en-US" sz="1400" dirty="0"/>
              <a:t>ID represents entry/order in dataset</a:t>
            </a:r>
          </a:p>
          <a:p>
            <a:endParaRPr lang="en-US" b="1" dirty="0"/>
          </a:p>
          <a:p>
            <a:r>
              <a:rPr lang="en-US" b="1" dirty="0"/>
              <a:t>By filtering female directors and applying ranking based on ID, I identified the 10th director as Angelina Jolie. This demonstrates how ordered data can be used to extract specific records, although it does not directly represent performance</a:t>
            </a:r>
          </a:p>
          <a:p>
            <a:endParaRPr lang="en-IN" dirty="0"/>
          </a:p>
        </p:txBody>
      </p:sp>
      <p:pic>
        <p:nvPicPr>
          <p:cNvPr id="19" name="Picture 18">
            <a:extLst>
              <a:ext uri="{FF2B5EF4-FFF2-40B4-BE49-F238E27FC236}">
                <a16:creationId xmlns:a16="http://schemas.microsoft.com/office/drawing/2014/main" id="{68CEB1FC-20BB-4002-AE8C-9D94CC87F78B}"/>
              </a:ext>
            </a:extLst>
          </p:cNvPr>
          <p:cNvPicPr>
            <a:picLocks noChangeAspect="1"/>
          </p:cNvPicPr>
          <p:nvPr/>
        </p:nvPicPr>
        <p:blipFill>
          <a:blip r:embed="rId5"/>
          <a:stretch>
            <a:fillRect/>
          </a:stretch>
        </p:blipFill>
        <p:spPr>
          <a:xfrm>
            <a:off x="11021438" y="3886200"/>
            <a:ext cx="1170562" cy="2971800"/>
          </a:xfrm>
          <a:prstGeom prst="rect">
            <a:avLst/>
          </a:prstGeom>
        </p:spPr>
      </p:pic>
      <p:pic>
        <p:nvPicPr>
          <p:cNvPr id="20" name="Picture 19">
            <a:extLst>
              <a:ext uri="{FF2B5EF4-FFF2-40B4-BE49-F238E27FC236}">
                <a16:creationId xmlns:a16="http://schemas.microsoft.com/office/drawing/2014/main" id="{BEA57517-9C7F-6EE0-B264-0C411CC899F6}"/>
              </a:ext>
            </a:extLst>
          </p:cNvPr>
          <p:cNvPicPr>
            <a:picLocks noChangeAspect="1"/>
          </p:cNvPicPr>
          <p:nvPr/>
        </p:nvPicPr>
        <p:blipFill>
          <a:blip r:embed="rId6"/>
          <a:stretch>
            <a:fillRect/>
          </a:stretch>
        </p:blipFill>
        <p:spPr>
          <a:xfrm>
            <a:off x="9873574" y="0"/>
            <a:ext cx="2318426" cy="875490"/>
          </a:xfrm>
          <a:prstGeom prst="rect">
            <a:avLst/>
          </a:prstGeom>
        </p:spPr>
      </p:pic>
    </p:spTree>
    <p:extLst>
      <p:ext uri="{BB962C8B-B14F-4D97-AF65-F5344CB8AC3E}">
        <p14:creationId xmlns:p14="http://schemas.microsoft.com/office/powerpoint/2010/main" val="1949011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8CA2329B-6D29-400E-3C56-08C07C438E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985EA8-F509-306C-0626-3421CFE1276D}"/>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dirty="0"/>
              <a:t>8.</a:t>
            </a:r>
            <a:r>
              <a:rPr lang="en-IN" dirty="0"/>
              <a:t> What are the 3 most popular movies?</a:t>
            </a:r>
          </a:p>
        </p:txBody>
      </p:sp>
      <p:sp>
        <p:nvSpPr>
          <p:cNvPr id="3" name="TextBox 2">
            <a:extLst>
              <a:ext uri="{FF2B5EF4-FFF2-40B4-BE49-F238E27FC236}">
                <a16:creationId xmlns:a16="http://schemas.microsoft.com/office/drawing/2014/main" id="{FCCCC74C-FD68-364B-32AB-A89F004128A6}"/>
              </a:ext>
            </a:extLst>
          </p:cNvPr>
          <p:cNvSpPr txBox="1"/>
          <p:nvPr/>
        </p:nvSpPr>
        <p:spPr>
          <a:xfrm>
            <a:off x="612843" y="1089498"/>
            <a:ext cx="11089530" cy="2704289"/>
          </a:xfrm>
          <a:prstGeom prst="rect">
            <a:avLst/>
          </a:prstGeom>
          <a:solidFill>
            <a:schemeClr val="bg1"/>
          </a:solidFill>
        </p:spPr>
        <p:txBody>
          <a:bodyPr wrap="square" rtlCol="0">
            <a:spAutoFit/>
          </a:bodyPr>
          <a:lstStyle/>
          <a:p>
            <a:endParaRPr lang="en-IN" dirty="0"/>
          </a:p>
        </p:txBody>
      </p:sp>
      <p:sp>
        <p:nvSpPr>
          <p:cNvPr id="13" name="TextBox 12">
            <a:extLst>
              <a:ext uri="{FF2B5EF4-FFF2-40B4-BE49-F238E27FC236}">
                <a16:creationId xmlns:a16="http://schemas.microsoft.com/office/drawing/2014/main" id="{0FEF85DE-93CA-D5AC-3D4C-2EE70F434A15}"/>
              </a:ext>
            </a:extLst>
          </p:cNvPr>
          <p:cNvSpPr txBox="1"/>
          <p:nvPr/>
        </p:nvSpPr>
        <p:spPr>
          <a:xfrm>
            <a:off x="612843" y="4041936"/>
            <a:ext cx="5272392" cy="2400657"/>
          </a:xfrm>
          <a:prstGeom prst="rect">
            <a:avLst/>
          </a:prstGeom>
          <a:solidFill>
            <a:schemeClr val="bg2">
              <a:lumMod val="90000"/>
            </a:schemeClr>
          </a:solidFill>
        </p:spPr>
        <p:txBody>
          <a:bodyPr wrap="square" rtlCol="0">
            <a:spAutoFit/>
          </a:bodyPr>
          <a:lstStyle/>
          <a:p>
            <a:r>
              <a:rPr lang="en-US" sz="2400" b="1" u="sng" dirty="0"/>
              <a:t>Insights:-</a:t>
            </a:r>
          </a:p>
          <a:p>
            <a:r>
              <a:rPr lang="en-US" b="1" dirty="0"/>
              <a:t>Audience Engagement Indicator</a:t>
            </a:r>
          </a:p>
          <a:p>
            <a:r>
              <a:rPr lang="en-US" dirty="0"/>
              <a:t>“Total vote count represents overall audience engagement across all movies.”</a:t>
            </a:r>
          </a:p>
          <a:p>
            <a:r>
              <a:rPr lang="en-US" dirty="0"/>
              <a:t> </a:t>
            </a:r>
            <a:r>
              <a:rPr lang="en-US" b="1" dirty="0"/>
              <a:t>Meaning:-</a:t>
            </a:r>
          </a:p>
          <a:p>
            <a:r>
              <a:rPr lang="en-US" dirty="0"/>
              <a:t>More votes → more audience interaction </a:t>
            </a:r>
          </a:p>
          <a:p>
            <a:r>
              <a:rPr lang="en-US" dirty="0"/>
              <a:t>Shows popularity and reach </a:t>
            </a:r>
          </a:p>
          <a:p>
            <a:endParaRPr lang="en-IN" dirty="0"/>
          </a:p>
        </p:txBody>
      </p:sp>
      <p:sp>
        <p:nvSpPr>
          <p:cNvPr id="6" name="TextBox 5">
            <a:extLst>
              <a:ext uri="{FF2B5EF4-FFF2-40B4-BE49-F238E27FC236}">
                <a16:creationId xmlns:a16="http://schemas.microsoft.com/office/drawing/2014/main" id="{44B08E68-6786-AEF2-B7A0-CD565FFFE9A9}"/>
              </a:ext>
            </a:extLst>
          </p:cNvPr>
          <p:cNvSpPr txBox="1"/>
          <p:nvPr/>
        </p:nvSpPr>
        <p:spPr>
          <a:xfrm flipH="1">
            <a:off x="6551578" y="4114800"/>
            <a:ext cx="4275307" cy="2031325"/>
          </a:xfrm>
          <a:prstGeom prst="rect">
            <a:avLst/>
          </a:prstGeom>
          <a:solidFill>
            <a:schemeClr val="bg2">
              <a:lumMod val="90000"/>
            </a:schemeClr>
          </a:solidFill>
        </p:spPr>
        <p:txBody>
          <a:bodyPr wrap="square" rtlCol="0">
            <a:spAutoFit/>
          </a:bodyPr>
          <a:lstStyle/>
          <a:p>
            <a:r>
              <a:rPr lang="en-US" dirty="0"/>
              <a:t>The vote count analysis shows audience engagement across movies. It highlights that a few movies attract a large portion of audience interaction, indicating a hit-driven engagement pattern. This helps in identifying popular content and understanding audience preferences.”</a:t>
            </a:r>
            <a:endParaRPr lang="en-IN" dirty="0"/>
          </a:p>
        </p:txBody>
      </p:sp>
      <p:pic>
        <p:nvPicPr>
          <p:cNvPr id="9" name="Picture 8">
            <a:extLst>
              <a:ext uri="{FF2B5EF4-FFF2-40B4-BE49-F238E27FC236}">
                <a16:creationId xmlns:a16="http://schemas.microsoft.com/office/drawing/2014/main" id="{F0CFD275-1EC3-8556-2469-AAA07CDDE4C3}"/>
              </a:ext>
            </a:extLst>
          </p:cNvPr>
          <p:cNvPicPr>
            <a:picLocks noChangeAspect="1"/>
          </p:cNvPicPr>
          <p:nvPr/>
        </p:nvPicPr>
        <p:blipFill>
          <a:blip r:embed="rId3"/>
          <a:stretch>
            <a:fillRect/>
          </a:stretch>
        </p:blipFill>
        <p:spPr>
          <a:xfrm>
            <a:off x="690318" y="1123293"/>
            <a:ext cx="3496163" cy="2076740"/>
          </a:xfrm>
          <a:prstGeom prst="rect">
            <a:avLst/>
          </a:prstGeom>
        </p:spPr>
      </p:pic>
      <p:pic>
        <p:nvPicPr>
          <p:cNvPr id="12" name="Picture 11">
            <a:extLst>
              <a:ext uri="{FF2B5EF4-FFF2-40B4-BE49-F238E27FC236}">
                <a16:creationId xmlns:a16="http://schemas.microsoft.com/office/drawing/2014/main" id="{EDD6E240-1C6C-C640-8819-06A2D3568EB4}"/>
              </a:ext>
            </a:extLst>
          </p:cNvPr>
          <p:cNvPicPr>
            <a:picLocks noChangeAspect="1"/>
          </p:cNvPicPr>
          <p:nvPr/>
        </p:nvPicPr>
        <p:blipFill>
          <a:blip r:embed="rId4"/>
          <a:stretch>
            <a:fillRect/>
          </a:stretch>
        </p:blipFill>
        <p:spPr>
          <a:xfrm>
            <a:off x="4263956" y="1503934"/>
            <a:ext cx="3267531" cy="1476581"/>
          </a:xfrm>
          <a:prstGeom prst="rect">
            <a:avLst/>
          </a:prstGeom>
        </p:spPr>
      </p:pic>
      <p:pic>
        <p:nvPicPr>
          <p:cNvPr id="15" name="Picture 14">
            <a:extLst>
              <a:ext uri="{FF2B5EF4-FFF2-40B4-BE49-F238E27FC236}">
                <a16:creationId xmlns:a16="http://schemas.microsoft.com/office/drawing/2014/main" id="{707BF0DF-8DE2-14E5-1F80-3F34A080ED0E}"/>
              </a:ext>
            </a:extLst>
          </p:cNvPr>
          <p:cNvPicPr>
            <a:picLocks noChangeAspect="1"/>
          </p:cNvPicPr>
          <p:nvPr/>
        </p:nvPicPr>
        <p:blipFill>
          <a:blip r:embed="rId5"/>
          <a:stretch>
            <a:fillRect/>
          </a:stretch>
        </p:blipFill>
        <p:spPr>
          <a:xfrm>
            <a:off x="7608961" y="1265873"/>
            <a:ext cx="3848945" cy="2163128"/>
          </a:xfrm>
          <a:prstGeom prst="rect">
            <a:avLst/>
          </a:prstGeom>
        </p:spPr>
      </p:pic>
      <p:pic>
        <p:nvPicPr>
          <p:cNvPr id="16" name="Picture 15">
            <a:extLst>
              <a:ext uri="{FF2B5EF4-FFF2-40B4-BE49-F238E27FC236}">
                <a16:creationId xmlns:a16="http://schemas.microsoft.com/office/drawing/2014/main" id="{5B53FC14-EB47-6100-E079-4BFEA079E000}"/>
              </a:ext>
            </a:extLst>
          </p:cNvPr>
          <p:cNvPicPr>
            <a:picLocks noChangeAspect="1"/>
          </p:cNvPicPr>
          <p:nvPr/>
        </p:nvPicPr>
        <p:blipFill>
          <a:blip r:embed="rId6"/>
          <a:stretch>
            <a:fillRect/>
          </a:stretch>
        </p:blipFill>
        <p:spPr>
          <a:xfrm>
            <a:off x="10826885" y="3793787"/>
            <a:ext cx="1337553" cy="3064213"/>
          </a:xfrm>
          <a:prstGeom prst="rect">
            <a:avLst/>
          </a:prstGeom>
        </p:spPr>
      </p:pic>
      <p:pic>
        <p:nvPicPr>
          <p:cNvPr id="17" name="Picture 16">
            <a:extLst>
              <a:ext uri="{FF2B5EF4-FFF2-40B4-BE49-F238E27FC236}">
                <a16:creationId xmlns:a16="http://schemas.microsoft.com/office/drawing/2014/main" id="{EB0E4D62-2589-1F61-DBCC-B34E8B4FBF59}"/>
              </a:ext>
            </a:extLst>
          </p:cNvPr>
          <p:cNvPicPr>
            <a:picLocks noChangeAspect="1"/>
          </p:cNvPicPr>
          <p:nvPr/>
        </p:nvPicPr>
        <p:blipFill>
          <a:blip r:embed="rId7"/>
          <a:stretch>
            <a:fillRect/>
          </a:stretch>
        </p:blipFill>
        <p:spPr>
          <a:xfrm>
            <a:off x="0" y="0"/>
            <a:ext cx="1789889" cy="1089498"/>
          </a:xfrm>
          <a:prstGeom prst="rect">
            <a:avLst/>
          </a:prstGeom>
        </p:spPr>
      </p:pic>
    </p:spTree>
    <p:extLst>
      <p:ext uri="{BB962C8B-B14F-4D97-AF65-F5344CB8AC3E}">
        <p14:creationId xmlns:p14="http://schemas.microsoft.com/office/powerpoint/2010/main" val="2912191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887235F7-A147-73C8-4481-C53BD694F7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89F38F-D9F0-B61D-B56F-C336EC3FBBD0}"/>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IN" b="1" dirty="0"/>
              <a:t>9.</a:t>
            </a:r>
            <a:r>
              <a:rPr lang="en-IN" dirty="0"/>
              <a:t> What are the 3 most bankable movies?</a:t>
            </a:r>
            <a:endParaRPr lang="en-IN" b="1" dirty="0"/>
          </a:p>
        </p:txBody>
      </p:sp>
      <p:sp>
        <p:nvSpPr>
          <p:cNvPr id="3" name="TextBox 2">
            <a:extLst>
              <a:ext uri="{FF2B5EF4-FFF2-40B4-BE49-F238E27FC236}">
                <a16:creationId xmlns:a16="http://schemas.microsoft.com/office/drawing/2014/main" id="{220649EC-A345-1917-B51D-7E2E8D30001A}"/>
              </a:ext>
            </a:extLst>
          </p:cNvPr>
          <p:cNvSpPr txBox="1"/>
          <p:nvPr/>
        </p:nvSpPr>
        <p:spPr>
          <a:xfrm>
            <a:off x="525294" y="817123"/>
            <a:ext cx="11293811" cy="3069077"/>
          </a:xfrm>
          <a:prstGeom prst="rect">
            <a:avLst/>
          </a:prstGeom>
          <a:solidFill>
            <a:schemeClr val="bg1"/>
          </a:solidFill>
        </p:spPr>
        <p:txBody>
          <a:bodyPr wrap="square" rtlCol="0">
            <a:spAutoFit/>
          </a:bodyPr>
          <a:lstStyle/>
          <a:p>
            <a:endParaRPr lang="en-IN" dirty="0"/>
          </a:p>
        </p:txBody>
      </p:sp>
      <p:sp>
        <p:nvSpPr>
          <p:cNvPr id="17" name="TextBox 16">
            <a:extLst>
              <a:ext uri="{FF2B5EF4-FFF2-40B4-BE49-F238E27FC236}">
                <a16:creationId xmlns:a16="http://schemas.microsoft.com/office/drawing/2014/main" id="{C3385674-5EB8-04D5-9FDE-B96C746CD5EC}"/>
              </a:ext>
            </a:extLst>
          </p:cNvPr>
          <p:cNvSpPr txBox="1"/>
          <p:nvPr/>
        </p:nvSpPr>
        <p:spPr>
          <a:xfrm>
            <a:off x="525295" y="4305486"/>
            <a:ext cx="3122578" cy="1938992"/>
          </a:xfrm>
          <a:prstGeom prst="rect">
            <a:avLst/>
          </a:prstGeom>
          <a:solidFill>
            <a:schemeClr val="bg2">
              <a:lumMod val="90000"/>
            </a:schemeClr>
          </a:solidFill>
        </p:spPr>
        <p:txBody>
          <a:bodyPr wrap="square" rtlCol="0">
            <a:spAutoFit/>
          </a:bodyPr>
          <a:lstStyle/>
          <a:p>
            <a:r>
              <a:rPr lang="en-US" b="1" dirty="0"/>
              <a:t>Avatar is the Clear Leader</a:t>
            </a:r>
          </a:p>
          <a:p>
            <a:r>
              <a:rPr lang="en-US" sz="1400" dirty="0"/>
              <a:t>~</a:t>
            </a:r>
            <a:r>
              <a:rPr lang="en-US" sz="1400" b="1" dirty="0"/>
              <a:t>2.8B revenue</a:t>
            </a:r>
            <a:endParaRPr lang="en-US" sz="1400" dirty="0"/>
          </a:p>
          <a:p>
            <a:r>
              <a:rPr lang="en-US" sz="1400" dirty="0"/>
              <a:t>“Avatar significantly outperforms all other movies in terms of revenue.”</a:t>
            </a:r>
          </a:p>
          <a:p>
            <a:r>
              <a:rPr lang="en-US" sz="1400" dirty="0"/>
              <a:t> </a:t>
            </a:r>
            <a:r>
              <a:rPr lang="en-US" sz="1400" b="1" u="sng" dirty="0"/>
              <a:t>Business Insight:-</a:t>
            </a:r>
            <a:endParaRPr lang="en-US" sz="1400" u="sng" dirty="0"/>
          </a:p>
          <a:p>
            <a:r>
              <a:rPr lang="en-US" sz="1400" dirty="0"/>
              <a:t>Major revenue driver </a:t>
            </a:r>
          </a:p>
          <a:p>
            <a:r>
              <a:rPr lang="en-US" sz="1400" dirty="0"/>
              <a:t>Benchmark for success </a:t>
            </a:r>
          </a:p>
          <a:p>
            <a:endParaRPr lang="en-US" dirty="0"/>
          </a:p>
        </p:txBody>
      </p:sp>
      <p:sp>
        <p:nvSpPr>
          <p:cNvPr id="19" name="TextBox 18">
            <a:extLst>
              <a:ext uri="{FF2B5EF4-FFF2-40B4-BE49-F238E27FC236}">
                <a16:creationId xmlns:a16="http://schemas.microsoft.com/office/drawing/2014/main" id="{9426B89A-F247-EC12-E49B-62040EC91A25}"/>
              </a:ext>
            </a:extLst>
          </p:cNvPr>
          <p:cNvSpPr txBox="1"/>
          <p:nvPr/>
        </p:nvSpPr>
        <p:spPr>
          <a:xfrm>
            <a:off x="4289898" y="4305486"/>
            <a:ext cx="3490065" cy="1938992"/>
          </a:xfrm>
          <a:prstGeom prst="rect">
            <a:avLst/>
          </a:prstGeom>
          <a:solidFill>
            <a:schemeClr val="bg2">
              <a:lumMod val="90000"/>
            </a:schemeClr>
          </a:solidFill>
        </p:spPr>
        <p:txBody>
          <a:bodyPr wrap="square" rtlCol="0">
            <a:spAutoFit/>
          </a:bodyPr>
          <a:lstStyle/>
          <a:p>
            <a:r>
              <a:rPr lang="en-US" b="1" dirty="0"/>
              <a:t>Large Gap Between Top Movies</a:t>
            </a:r>
          </a:p>
          <a:p>
            <a:r>
              <a:rPr lang="en-US" sz="1400" dirty="0"/>
              <a:t>Avatar (~2.8B) vs Avengers (~1.5B)</a:t>
            </a:r>
          </a:p>
          <a:p>
            <a:r>
              <a:rPr lang="en-US" sz="1400" dirty="0"/>
              <a:t>“There is a huge revenue gap between the top movie and the rest.”</a:t>
            </a:r>
          </a:p>
          <a:p>
            <a:r>
              <a:rPr lang="en-US" sz="1400" dirty="0"/>
              <a:t> </a:t>
            </a:r>
            <a:r>
              <a:rPr lang="en-US" sz="1400" b="1" u="sng" dirty="0"/>
              <a:t>Business Insight:-</a:t>
            </a:r>
            <a:endParaRPr lang="en-US" sz="1400" u="sng" dirty="0"/>
          </a:p>
          <a:p>
            <a:r>
              <a:rPr lang="en-US" sz="1400" dirty="0"/>
              <a:t>Revenue is </a:t>
            </a:r>
            <a:r>
              <a:rPr lang="en-US" sz="1400" b="1" dirty="0"/>
              <a:t>highly concentrated</a:t>
            </a:r>
            <a:r>
              <a:rPr lang="en-US" sz="1400" dirty="0"/>
              <a:t> </a:t>
            </a:r>
          </a:p>
          <a:p>
            <a:r>
              <a:rPr lang="en-US" sz="1400" dirty="0"/>
              <a:t>Few movies dominate earnings</a:t>
            </a:r>
          </a:p>
          <a:p>
            <a:endParaRPr lang="en-IN" dirty="0"/>
          </a:p>
        </p:txBody>
      </p:sp>
      <p:sp>
        <p:nvSpPr>
          <p:cNvPr id="21" name="TextBox 20">
            <a:extLst>
              <a:ext uri="{FF2B5EF4-FFF2-40B4-BE49-F238E27FC236}">
                <a16:creationId xmlns:a16="http://schemas.microsoft.com/office/drawing/2014/main" id="{BD7536E2-EA6C-E4BE-A4C2-8D17083264DE}"/>
              </a:ext>
            </a:extLst>
          </p:cNvPr>
          <p:cNvSpPr txBox="1"/>
          <p:nvPr/>
        </p:nvSpPr>
        <p:spPr>
          <a:xfrm>
            <a:off x="8336604" y="4305486"/>
            <a:ext cx="3608962" cy="2092881"/>
          </a:xfrm>
          <a:prstGeom prst="rect">
            <a:avLst/>
          </a:prstGeom>
          <a:solidFill>
            <a:schemeClr val="bg2">
              <a:lumMod val="90000"/>
            </a:schemeClr>
          </a:solidFill>
        </p:spPr>
        <p:txBody>
          <a:bodyPr wrap="square" rtlCol="0">
            <a:spAutoFit/>
          </a:bodyPr>
          <a:lstStyle/>
          <a:p>
            <a:r>
              <a:rPr lang="en-IN" sz="1400" b="1" dirty="0"/>
              <a:t>Mid-Level Performance Cluster</a:t>
            </a:r>
          </a:p>
          <a:p>
            <a:r>
              <a:rPr lang="en-IN" sz="1400" dirty="0"/>
              <a:t>Avengers (~1.5B)</a:t>
            </a:r>
            <a:br>
              <a:rPr lang="en-IN" sz="1400" dirty="0"/>
            </a:br>
            <a:r>
              <a:rPr lang="en-IN" sz="1400" dirty="0"/>
              <a:t> Dark Knight Rises (~1.1B)</a:t>
            </a:r>
          </a:p>
          <a:p>
            <a:r>
              <a:rPr lang="en-IN" sz="1400" dirty="0"/>
              <a:t>“Other movies perform within a closer revenue range.”</a:t>
            </a:r>
          </a:p>
          <a:p>
            <a:r>
              <a:rPr lang="en-IN" sz="1400" b="1" u="sng" dirty="0"/>
              <a:t>Business Insight:-</a:t>
            </a:r>
            <a:endParaRPr lang="en-IN" sz="1400" u="sng" dirty="0"/>
          </a:p>
          <a:p>
            <a:r>
              <a:rPr lang="en-IN" sz="1400" dirty="0"/>
              <a:t>Stable but not exceptional performance </a:t>
            </a:r>
          </a:p>
          <a:p>
            <a:r>
              <a:rPr lang="en-IN" sz="1400" dirty="0"/>
              <a:t>Competitive market</a:t>
            </a:r>
          </a:p>
          <a:p>
            <a:endParaRPr lang="en-IN" dirty="0"/>
          </a:p>
        </p:txBody>
      </p:sp>
      <p:pic>
        <p:nvPicPr>
          <p:cNvPr id="6" name="Picture 5">
            <a:extLst>
              <a:ext uri="{FF2B5EF4-FFF2-40B4-BE49-F238E27FC236}">
                <a16:creationId xmlns:a16="http://schemas.microsoft.com/office/drawing/2014/main" id="{963B779A-B6CA-E7D8-E9EB-FAAAC38E162B}"/>
              </a:ext>
            </a:extLst>
          </p:cNvPr>
          <p:cNvPicPr>
            <a:picLocks noChangeAspect="1"/>
          </p:cNvPicPr>
          <p:nvPr/>
        </p:nvPicPr>
        <p:blipFill>
          <a:blip r:embed="rId2"/>
          <a:stretch>
            <a:fillRect/>
          </a:stretch>
        </p:blipFill>
        <p:spPr>
          <a:xfrm>
            <a:off x="678956" y="983171"/>
            <a:ext cx="3477110" cy="1829055"/>
          </a:xfrm>
          <a:prstGeom prst="rect">
            <a:avLst/>
          </a:prstGeom>
        </p:spPr>
      </p:pic>
      <p:pic>
        <p:nvPicPr>
          <p:cNvPr id="9" name="Picture 8">
            <a:extLst>
              <a:ext uri="{FF2B5EF4-FFF2-40B4-BE49-F238E27FC236}">
                <a16:creationId xmlns:a16="http://schemas.microsoft.com/office/drawing/2014/main" id="{BBC7E367-7C7A-4758-219E-10F3ECFA317C}"/>
              </a:ext>
            </a:extLst>
          </p:cNvPr>
          <p:cNvPicPr>
            <a:picLocks noChangeAspect="1"/>
          </p:cNvPicPr>
          <p:nvPr/>
        </p:nvPicPr>
        <p:blipFill>
          <a:blip r:embed="rId3"/>
          <a:stretch>
            <a:fillRect/>
          </a:stretch>
        </p:blipFill>
        <p:spPr>
          <a:xfrm>
            <a:off x="3273044" y="2050247"/>
            <a:ext cx="3038899" cy="1181265"/>
          </a:xfrm>
          <a:prstGeom prst="rect">
            <a:avLst/>
          </a:prstGeom>
        </p:spPr>
      </p:pic>
      <p:pic>
        <p:nvPicPr>
          <p:cNvPr id="12" name="Picture 11">
            <a:extLst>
              <a:ext uri="{FF2B5EF4-FFF2-40B4-BE49-F238E27FC236}">
                <a16:creationId xmlns:a16="http://schemas.microsoft.com/office/drawing/2014/main" id="{335B75C1-15FE-DE74-A66F-BEFFDAF117DC}"/>
              </a:ext>
            </a:extLst>
          </p:cNvPr>
          <p:cNvPicPr>
            <a:picLocks noChangeAspect="1"/>
          </p:cNvPicPr>
          <p:nvPr/>
        </p:nvPicPr>
        <p:blipFill>
          <a:blip r:embed="rId4"/>
          <a:stretch>
            <a:fillRect/>
          </a:stretch>
        </p:blipFill>
        <p:spPr>
          <a:xfrm>
            <a:off x="6781659" y="1051426"/>
            <a:ext cx="4248743" cy="2353003"/>
          </a:xfrm>
          <a:prstGeom prst="rect">
            <a:avLst/>
          </a:prstGeom>
        </p:spPr>
      </p:pic>
      <p:pic>
        <p:nvPicPr>
          <p:cNvPr id="13" name="Picture 12">
            <a:extLst>
              <a:ext uri="{FF2B5EF4-FFF2-40B4-BE49-F238E27FC236}">
                <a16:creationId xmlns:a16="http://schemas.microsoft.com/office/drawing/2014/main" id="{ECB6C32C-ACB1-7BB7-8298-572F37EF3A3E}"/>
              </a:ext>
            </a:extLst>
          </p:cNvPr>
          <p:cNvPicPr>
            <a:picLocks noChangeAspect="1"/>
          </p:cNvPicPr>
          <p:nvPr/>
        </p:nvPicPr>
        <p:blipFill>
          <a:blip r:embed="rId5"/>
          <a:stretch>
            <a:fillRect/>
          </a:stretch>
        </p:blipFill>
        <p:spPr>
          <a:xfrm>
            <a:off x="11030402" y="12370"/>
            <a:ext cx="1161598" cy="2032360"/>
          </a:xfrm>
          <a:prstGeom prst="rect">
            <a:avLst/>
          </a:prstGeom>
        </p:spPr>
      </p:pic>
      <p:pic>
        <p:nvPicPr>
          <p:cNvPr id="14" name="Picture 13">
            <a:extLst>
              <a:ext uri="{FF2B5EF4-FFF2-40B4-BE49-F238E27FC236}">
                <a16:creationId xmlns:a16="http://schemas.microsoft.com/office/drawing/2014/main" id="{D71E63B9-E760-6839-3329-0232729C43E5}"/>
              </a:ext>
            </a:extLst>
          </p:cNvPr>
          <p:cNvPicPr>
            <a:picLocks noChangeAspect="1"/>
          </p:cNvPicPr>
          <p:nvPr/>
        </p:nvPicPr>
        <p:blipFill>
          <a:blip r:embed="rId6"/>
          <a:stretch>
            <a:fillRect/>
          </a:stretch>
        </p:blipFill>
        <p:spPr>
          <a:xfrm>
            <a:off x="9637718" y="12369"/>
            <a:ext cx="1519907" cy="804754"/>
          </a:xfrm>
          <a:prstGeom prst="rect">
            <a:avLst/>
          </a:prstGeom>
          <a:effectLst>
            <a:outerShdw blurRad="50800" dist="50800" dir="5400000" algn="ctr" rotWithShape="0">
              <a:schemeClr val="tx1">
                <a:lumMod val="50000"/>
                <a:lumOff val="50000"/>
              </a:schemeClr>
            </a:outerShdw>
          </a:effectLst>
        </p:spPr>
      </p:pic>
      <p:pic>
        <p:nvPicPr>
          <p:cNvPr id="15" name="Picture 14">
            <a:extLst>
              <a:ext uri="{FF2B5EF4-FFF2-40B4-BE49-F238E27FC236}">
                <a16:creationId xmlns:a16="http://schemas.microsoft.com/office/drawing/2014/main" id="{416DFA84-BBC2-4182-7C7A-3395763CC6AA}"/>
              </a:ext>
            </a:extLst>
          </p:cNvPr>
          <p:cNvPicPr>
            <a:picLocks noChangeAspect="1"/>
          </p:cNvPicPr>
          <p:nvPr/>
        </p:nvPicPr>
        <p:blipFill>
          <a:blip r:embed="rId7"/>
          <a:stretch>
            <a:fillRect/>
          </a:stretch>
        </p:blipFill>
        <p:spPr>
          <a:xfrm>
            <a:off x="11030402" y="2044729"/>
            <a:ext cx="1161598" cy="2353003"/>
          </a:xfrm>
          <a:prstGeom prst="rect">
            <a:avLst/>
          </a:prstGeom>
        </p:spPr>
      </p:pic>
    </p:spTree>
    <p:extLst>
      <p:ext uri="{BB962C8B-B14F-4D97-AF65-F5344CB8AC3E}">
        <p14:creationId xmlns:p14="http://schemas.microsoft.com/office/powerpoint/2010/main" val="3424730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1266E413-4D7F-F0BD-FA45-E4E259B4B8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43F34D-1E4A-9658-BD2F-B5344FE251AE}"/>
              </a:ext>
            </a:extLst>
          </p:cNvPr>
          <p:cNvSpPr txBox="1"/>
          <p:nvPr/>
        </p:nvSpPr>
        <p:spPr>
          <a:xfrm>
            <a:off x="1693161" y="87868"/>
            <a:ext cx="7811311" cy="369332"/>
          </a:xfrm>
          <a:prstGeom prst="rect">
            <a:avLst/>
          </a:prstGeom>
          <a:solidFill>
            <a:schemeClr val="bg1"/>
          </a:solidFill>
        </p:spPr>
        <p:txBody>
          <a:bodyPr wrap="square" rtlCol="0">
            <a:spAutoFit/>
          </a:bodyPr>
          <a:lstStyle/>
          <a:p>
            <a:pPr algn="ctr"/>
            <a:r>
              <a:rPr lang="en-IN" b="1" dirty="0"/>
              <a:t>10.</a:t>
            </a:r>
            <a:r>
              <a:rPr lang="en-IN" dirty="0"/>
              <a:t> What is the most awarded average vote since the January 1st, 2000?</a:t>
            </a:r>
          </a:p>
        </p:txBody>
      </p:sp>
      <p:sp>
        <p:nvSpPr>
          <p:cNvPr id="3" name="TextBox 2">
            <a:extLst>
              <a:ext uri="{FF2B5EF4-FFF2-40B4-BE49-F238E27FC236}">
                <a16:creationId xmlns:a16="http://schemas.microsoft.com/office/drawing/2014/main" id="{9F436F9D-CE39-A714-B768-9D3FB5D2938F}"/>
              </a:ext>
            </a:extLst>
          </p:cNvPr>
          <p:cNvSpPr txBox="1"/>
          <p:nvPr/>
        </p:nvSpPr>
        <p:spPr>
          <a:xfrm>
            <a:off x="428018" y="807397"/>
            <a:ext cx="11060348" cy="3078804"/>
          </a:xfrm>
          <a:prstGeom prst="rect">
            <a:avLst/>
          </a:prstGeom>
          <a:solidFill>
            <a:schemeClr val="bg1"/>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98F8DAB5-9123-D50F-02E9-18677A80FF17}"/>
              </a:ext>
            </a:extLst>
          </p:cNvPr>
          <p:cNvSpPr txBox="1"/>
          <p:nvPr/>
        </p:nvSpPr>
        <p:spPr>
          <a:xfrm>
            <a:off x="428019" y="4160125"/>
            <a:ext cx="4153710" cy="2200602"/>
          </a:xfrm>
          <a:prstGeom prst="rect">
            <a:avLst/>
          </a:prstGeom>
          <a:solidFill>
            <a:schemeClr val="bg2">
              <a:lumMod val="90000"/>
            </a:schemeClr>
          </a:solidFill>
        </p:spPr>
        <p:txBody>
          <a:bodyPr wrap="square" rtlCol="0">
            <a:spAutoFit/>
          </a:bodyPr>
          <a:lstStyle/>
          <a:p>
            <a:r>
              <a:rPr lang="en-US" sz="1100" b="1" u="sng" dirty="0"/>
              <a:t>Insights:-</a:t>
            </a:r>
          </a:p>
          <a:p>
            <a:r>
              <a:rPr lang="en-US" b="1" dirty="0"/>
              <a:t>Top Rated Movie Identified</a:t>
            </a:r>
          </a:p>
          <a:p>
            <a:r>
              <a:rPr lang="en-US" dirty="0"/>
              <a:t>“The Dark Knight Rises is the highest-rated movie in the dataset after 2000.”</a:t>
            </a:r>
          </a:p>
          <a:p>
            <a:r>
              <a:rPr lang="en-US" dirty="0"/>
              <a:t>💡 Meaning:</a:t>
            </a:r>
          </a:p>
          <a:p>
            <a:r>
              <a:rPr lang="en-US" dirty="0"/>
              <a:t>Strong audience appreciation </a:t>
            </a:r>
          </a:p>
          <a:p>
            <a:r>
              <a:rPr lang="en-US" dirty="0"/>
              <a:t>High satisfaction level</a:t>
            </a:r>
          </a:p>
          <a:p>
            <a:endParaRPr lang="en-IN" dirty="0"/>
          </a:p>
        </p:txBody>
      </p:sp>
      <p:sp>
        <p:nvSpPr>
          <p:cNvPr id="13" name="TextBox 12">
            <a:extLst>
              <a:ext uri="{FF2B5EF4-FFF2-40B4-BE49-F238E27FC236}">
                <a16:creationId xmlns:a16="http://schemas.microsoft.com/office/drawing/2014/main" id="{C4B24F66-5A68-A849-9A54-CF539BB86453}"/>
              </a:ext>
            </a:extLst>
          </p:cNvPr>
          <p:cNvSpPr txBox="1"/>
          <p:nvPr/>
        </p:nvSpPr>
        <p:spPr>
          <a:xfrm>
            <a:off x="5165387" y="4160125"/>
            <a:ext cx="6598593" cy="2308324"/>
          </a:xfrm>
          <a:prstGeom prst="rect">
            <a:avLst/>
          </a:prstGeom>
          <a:solidFill>
            <a:schemeClr val="bg2">
              <a:lumMod val="90000"/>
            </a:schemeClr>
          </a:solidFill>
        </p:spPr>
        <p:txBody>
          <a:bodyPr wrap="square" rtlCol="0">
            <a:spAutoFit/>
          </a:bodyPr>
          <a:lstStyle/>
          <a:p>
            <a:r>
              <a:rPr lang="en-US" sz="2400" b="1" dirty="0"/>
              <a:t>This chart shows that The Dark Knight Rises is the highest-rated movie after 2000, indicating strong audience satisfaction. However, high ratings do not always translate into the highest revenue, highlighting the difference between quality and commercial performance</a:t>
            </a:r>
            <a:endParaRPr lang="en-IN" sz="2400" b="1" dirty="0"/>
          </a:p>
        </p:txBody>
      </p:sp>
      <p:pic>
        <p:nvPicPr>
          <p:cNvPr id="5" name="Picture 4">
            <a:extLst>
              <a:ext uri="{FF2B5EF4-FFF2-40B4-BE49-F238E27FC236}">
                <a16:creationId xmlns:a16="http://schemas.microsoft.com/office/drawing/2014/main" id="{6771C27F-6E37-1576-B9E3-C11D0AC317B4}"/>
              </a:ext>
            </a:extLst>
          </p:cNvPr>
          <p:cNvPicPr>
            <a:picLocks noChangeAspect="1"/>
          </p:cNvPicPr>
          <p:nvPr/>
        </p:nvPicPr>
        <p:blipFill>
          <a:blip r:embed="rId2"/>
          <a:stretch>
            <a:fillRect/>
          </a:stretch>
        </p:blipFill>
        <p:spPr>
          <a:xfrm>
            <a:off x="703634" y="1035114"/>
            <a:ext cx="3620005" cy="1562318"/>
          </a:xfrm>
          <a:prstGeom prst="rect">
            <a:avLst/>
          </a:prstGeom>
        </p:spPr>
      </p:pic>
      <p:pic>
        <p:nvPicPr>
          <p:cNvPr id="7" name="Picture 6">
            <a:extLst>
              <a:ext uri="{FF2B5EF4-FFF2-40B4-BE49-F238E27FC236}">
                <a16:creationId xmlns:a16="http://schemas.microsoft.com/office/drawing/2014/main" id="{5B47F7B7-AC2F-297D-060D-5C0B180CEB5C}"/>
              </a:ext>
            </a:extLst>
          </p:cNvPr>
          <p:cNvPicPr>
            <a:picLocks noChangeAspect="1"/>
          </p:cNvPicPr>
          <p:nvPr/>
        </p:nvPicPr>
        <p:blipFill>
          <a:blip r:embed="rId3"/>
          <a:stretch>
            <a:fillRect/>
          </a:stretch>
        </p:blipFill>
        <p:spPr>
          <a:xfrm>
            <a:off x="2168598" y="2414154"/>
            <a:ext cx="3343742" cy="1066949"/>
          </a:xfrm>
          <a:prstGeom prst="rect">
            <a:avLst/>
          </a:prstGeom>
        </p:spPr>
      </p:pic>
      <p:pic>
        <p:nvPicPr>
          <p:cNvPr id="9" name="Picture 8">
            <a:extLst>
              <a:ext uri="{FF2B5EF4-FFF2-40B4-BE49-F238E27FC236}">
                <a16:creationId xmlns:a16="http://schemas.microsoft.com/office/drawing/2014/main" id="{015AD633-3335-11AF-7B9B-DA2A93CF36BF}"/>
              </a:ext>
            </a:extLst>
          </p:cNvPr>
          <p:cNvPicPr>
            <a:picLocks noChangeAspect="1"/>
          </p:cNvPicPr>
          <p:nvPr/>
        </p:nvPicPr>
        <p:blipFill>
          <a:blip r:embed="rId4"/>
          <a:stretch>
            <a:fillRect/>
          </a:stretch>
        </p:blipFill>
        <p:spPr>
          <a:xfrm>
            <a:off x="6178689" y="1428471"/>
            <a:ext cx="4296375" cy="2000529"/>
          </a:xfrm>
          <a:prstGeom prst="rect">
            <a:avLst/>
          </a:prstGeom>
        </p:spPr>
      </p:pic>
      <p:pic>
        <p:nvPicPr>
          <p:cNvPr id="10" name="Picture 9">
            <a:extLst>
              <a:ext uri="{FF2B5EF4-FFF2-40B4-BE49-F238E27FC236}">
                <a16:creationId xmlns:a16="http://schemas.microsoft.com/office/drawing/2014/main" id="{93544A20-EFF7-7610-E080-29399644E42D}"/>
              </a:ext>
            </a:extLst>
          </p:cNvPr>
          <p:cNvPicPr>
            <a:picLocks noChangeAspect="1"/>
          </p:cNvPicPr>
          <p:nvPr/>
        </p:nvPicPr>
        <p:blipFill>
          <a:blip r:embed="rId5"/>
          <a:stretch>
            <a:fillRect/>
          </a:stretch>
        </p:blipFill>
        <p:spPr>
          <a:xfrm>
            <a:off x="9504472" y="1"/>
            <a:ext cx="1526381" cy="729573"/>
          </a:xfrm>
          <a:prstGeom prst="rect">
            <a:avLst/>
          </a:prstGeom>
          <a:effectLst>
            <a:outerShdw blurRad="50800" dist="50800" dir="5400000" algn="ctr" rotWithShape="0">
              <a:schemeClr val="tx1">
                <a:lumMod val="50000"/>
                <a:lumOff val="50000"/>
              </a:schemeClr>
            </a:outerShdw>
          </a:effectLst>
        </p:spPr>
      </p:pic>
      <p:pic>
        <p:nvPicPr>
          <p:cNvPr id="12" name="Picture 11">
            <a:extLst>
              <a:ext uri="{FF2B5EF4-FFF2-40B4-BE49-F238E27FC236}">
                <a16:creationId xmlns:a16="http://schemas.microsoft.com/office/drawing/2014/main" id="{B7F4FE50-2549-812A-55A2-671094DA6D90}"/>
              </a:ext>
            </a:extLst>
          </p:cNvPr>
          <p:cNvPicPr>
            <a:picLocks noChangeAspect="1"/>
          </p:cNvPicPr>
          <p:nvPr/>
        </p:nvPicPr>
        <p:blipFill>
          <a:blip r:embed="rId6"/>
          <a:stretch>
            <a:fillRect/>
          </a:stretch>
        </p:blipFill>
        <p:spPr>
          <a:xfrm>
            <a:off x="11030853" y="0"/>
            <a:ext cx="1123862" cy="2076297"/>
          </a:xfrm>
          <a:prstGeom prst="rect">
            <a:avLst/>
          </a:prstGeom>
        </p:spPr>
      </p:pic>
      <p:pic>
        <p:nvPicPr>
          <p:cNvPr id="17" name="Picture 16">
            <a:extLst>
              <a:ext uri="{FF2B5EF4-FFF2-40B4-BE49-F238E27FC236}">
                <a16:creationId xmlns:a16="http://schemas.microsoft.com/office/drawing/2014/main" id="{2459EE58-1865-33FA-C1A3-9AC074D2C780}"/>
              </a:ext>
            </a:extLst>
          </p:cNvPr>
          <p:cNvPicPr>
            <a:picLocks noChangeAspect="1"/>
          </p:cNvPicPr>
          <p:nvPr/>
        </p:nvPicPr>
        <p:blipFill>
          <a:blip r:embed="rId7"/>
          <a:stretch>
            <a:fillRect/>
          </a:stretch>
        </p:blipFill>
        <p:spPr>
          <a:xfrm>
            <a:off x="11050320" y="2076296"/>
            <a:ext cx="1104395" cy="2160101"/>
          </a:xfrm>
          <a:prstGeom prst="rect">
            <a:avLst/>
          </a:prstGeom>
        </p:spPr>
      </p:pic>
    </p:spTree>
    <p:extLst>
      <p:ext uri="{BB962C8B-B14F-4D97-AF65-F5344CB8AC3E}">
        <p14:creationId xmlns:p14="http://schemas.microsoft.com/office/powerpoint/2010/main" val="3441476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7C59EA07-2700-01C0-CFC6-1FAE609948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DAF6B4-1FFF-D515-93D8-D801A300F154}"/>
              </a:ext>
            </a:extLst>
          </p:cNvPr>
          <p:cNvSpPr txBox="1"/>
          <p:nvPr/>
        </p:nvSpPr>
        <p:spPr>
          <a:xfrm>
            <a:off x="1693161" y="149933"/>
            <a:ext cx="7811311" cy="369332"/>
          </a:xfrm>
          <a:prstGeom prst="rect">
            <a:avLst/>
          </a:prstGeom>
          <a:solidFill>
            <a:schemeClr val="bg1"/>
          </a:solidFill>
        </p:spPr>
        <p:txBody>
          <a:bodyPr wrap="square" rtlCol="0">
            <a:spAutoFit/>
          </a:bodyPr>
          <a:lstStyle/>
          <a:p>
            <a:pPr algn="ctr"/>
            <a:r>
              <a:rPr lang="en-IN" b="1" dirty="0"/>
              <a:t>11.</a:t>
            </a:r>
            <a:r>
              <a:rPr lang="en-IN" dirty="0"/>
              <a:t> Which movie(s) were directed by Brenda Chapman?</a:t>
            </a:r>
          </a:p>
        </p:txBody>
      </p:sp>
      <p:sp>
        <p:nvSpPr>
          <p:cNvPr id="3" name="TextBox 2">
            <a:extLst>
              <a:ext uri="{FF2B5EF4-FFF2-40B4-BE49-F238E27FC236}">
                <a16:creationId xmlns:a16="http://schemas.microsoft.com/office/drawing/2014/main" id="{46EA3F51-82D4-63A2-8256-2A120EC854AD}"/>
              </a:ext>
            </a:extLst>
          </p:cNvPr>
          <p:cNvSpPr txBox="1"/>
          <p:nvPr/>
        </p:nvSpPr>
        <p:spPr>
          <a:xfrm>
            <a:off x="428018" y="807397"/>
            <a:ext cx="11060348" cy="3078804"/>
          </a:xfrm>
          <a:prstGeom prst="rect">
            <a:avLst/>
          </a:prstGeom>
          <a:solidFill>
            <a:schemeClr val="bg1"/>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51B2AD0F-0EC8-1E35-8589-98F9D7002D9E}"/>
              </a:ext>
            </a:extLst>
          </p:cNvPr>
          <p:cNvSpPr txBox="1"/>
          <p:nvPr/>
        </p:nvSpPr>
        <p:spPr>
          <a:xfrm>
            <a:off x="428019" y="4160125"/>
            <a:ext cx="4153710" cy="2200602"/>
          </a:xfrm>
          <a:prstGeom prst="rect">
            <a:avLst/>
          </a:prstGeom>
          <a:solidFill>
            <a:schemeClr val="bg2">
              <a:lumMod val="90000"/>
            </a:schemeClr>
          </a:solidFill>
        </p:spPr>
        <p:txBody>
          <a:bodyPr wrap="square" rtlCol="0">
            <a:spAutoFit/>
          </a:bodyPr>
          <a:lstStyle/>
          <a:p>
            <a:r>
              <a:rPr lang="en-US" sz="1100" b="1" u="sng" dirty="0"/>
              <a:t>Insights:-</a:t>
            </a:r>
          </a:p>
          <a:p>
            <a:r>
              <a:rPr lang="en-US" dirty="0"/>
              <a:t>Director: </a:t>
            </a:r>
            <a:r>
              <a:rPr lang="en-US" b="1" dirty="0"/>
              <a:t>Brenda Chapman</a:t>
            </a:r>
            <a:br>
              <a:rPr lang="en-US" dirty="0"/>
            </a:br>
            <a:r>
              <a:rPr lang="en-US" dirty="0"/>
              <a:t> Result: </a:t>
            </a:r>
            <a:r>
              <a:rPr lang="en-US" b="1" dirty="0"/>
              <a:t>0 movies in your dataset</a:t>
            </a:r>
          </a:p>
          <a:p>
            <a:r>
              <a:rPr lang="en-US" dirty="0"/>
              <a:t>his can happen due to:</a:t>
            </a:r>
          </a:p>
          <a:p>
            <a:r>
              <a:rPr lang="en-US" b="1" dirty="0"/>
              <a:t> 1. No matching records in Movies table</a:t>
            </a:r>
          </a:p>
          <a:p>
            <a:r>
              <a:rPr lang="en-US" dirty="0"/>
              <a:t>Director exists </a:t>
            </a:r>
          </a:p>
          <a:p>
            <a:r>
              <a:rPr lang="en-US" dirty="0"/>
              <a:t>But </a:t>
            </a:r>
            <a:r>
              <a:rPr lang="en-US" b="1" dirty="0"/>
              <a:t>no movie linked via </a:t>
            </a:r>
            <a:r>
              <a:rPr lang="en-US" b="1" dirty="0" err="1"/>
              <a:t>director_id</a:t>
            </a:r>
            <a:endParaRPr lang="en-US" dirty="0"/>
          </a:p>
          <a:p>
            <a:endParaRPr lang="en-IN" dirty="0"/>
          </a:p>
        </p:txBody>
      </p:sp>
      <p:sp>
        <p:nvSpPr>
          <p:cNvPr id="13" name="TextBox 12">
            <a:extLst>
              <a:ext uri="{FF2B5EF4-FFF2-40B4-BE49-F238E27FC236}">
                <a16:creationId xmlns:a16="http://schemas.microsoft.com/office/drawing/2014/main" id="{67642BF1-9C0D-7531-4201-5EEA6269EF14}"/>
              </a:ext>
            </a:extLst>
          </p:cNvPr>
          <p:cNvSpPr txBox="1"/>
          <p:nvPr/>
        </p:nvSpPr>
        <p:spPr>
          <a:xfrm>
            <a:off x="5165388" y="4160126"/>
            <a:ext cx="6322978" cy="1908215"/>
          </a:xfrm>
          <a:prstGeom prst="rect">
            <a:avLst/>
          </a:prstGeom>
          <a:solidFill>
            <a:schemeClr val="bg2">
              <a:lumMod val="90000"/>
            </a:schemeClr>
          </a:solidFill>
        </p:spPr>
        <p:txBody>
          <a:bodyPr wrap="square" rtlCol="0">
            <a:spAutoFit/>
          </a:bodyPr>
          <a:lstStyle/>
          <a:p>
            <a:r>
              <a:rPr lang="en-US" sz="2000" b="1" u="sng" dirty="0"/>
              <a:t>The result shows that Brenda Chapman has no associated movies in the dataset. This could be due to data limitations or missing relationships. It highlights the importance of validating data completeness before making business decisions.”</a:t>
            </a:r>
          </a:p>
          <a:p>
            <a:endParaRPr lang="en-IN" dirty="0"/>
          </a:p>
        </p:txBody>
      </p:sp>
      <p:pic>
        <p:nvPicPr>
          <p:cNvPr id="6" name="Picture 5">
            <a:extLst>
              <a:ext uri="{FF2B5EF4-FFF2-40B4-BE49-F238E27FC236}">
                <a16:creationId xmlns:a16="http://schemas.microsoft.com/office/drawing/2014/main" id="{44A7AF88-9368-0E46-8F7C-B2795858D8D3}"/>
              </a:ext>
            </a:extLst>
          </p:cNvPr>
          <p:cNvPicPr>
            <a:picLocks noChangeAspect="1"/>
          </p:cNvPicPr>
          <p:nvPr/>
        </p:nvPicPr>
        <p:blipFill>
          <a:blip r:embed="rId2"/>
          <a:stretch>
            <a:fillRect/>
          </a:stretch>
        </p:blipFill>
        <p:spPr>
          <a:xfrm>
            <a:off x="684179" y="909011"/>
            <a:ext cx="4906060" cy="2534004"/>
          </a:xfrm>
          <a:prstGeom prst="rect">
            <a:avLst/>
          </a:prstGeom>
        </p:spPr>
      </p:pic>
      <p:pic>
        <p:nvPicPr>
          <p:cNvPr id="10" name="Picture 9">
            <a:extLst>
              <a:ext uri="{FF2B5EF4-FFF2-40B4-BE49-F238E27FC236}">
                <a16:creationId xmlns:a16="http://schemas.microsoft.com/office/drawing/2014/main" id="{A804D124-38AC-D936-E73A-B7A15C3BDCF5}"/>
              </a:ext>
            </a:extLst>
          </p:cNvPr>
          <p:cNvPicPr>
            <a:picLocks noChangeAspect="1"/>
          </p:cNvPicPr>
          <p:nvPr/>
        </p:nvPicPr>
        <p:blipFill>
          <a:blip r:embed="rId3"/>
          <a:stretch>
            <a:fillRect/>
          </a:stretch>
        </p:blipFill>
        <p:spPr>
          <a:xfrm>
            <a:off x="4714682" y="1594769"/>
            <a:ext cx="2762636" cy="866896"/>
          </a:xfrm>
          <a:prstGeom prst="rect">
            <a:avLst/>
          </a:prstGeom>
        </p:spPr>
      </p:pic>
      <p:pic>
        <p:nvPicPr>
          <p:cNvPr id="12" name="Picture 11">
            <a:extLst>
              <a:ext uri="{FF2B5EF4-FFF2-40B4-BE49-F238E27FC236}">
                <a16:creationId xmlns:a16="http://schemas.microsoft.com/office/drawing/2014/main" id="{ACA01478-0AA7-F5FA-D8F2-908BD323848C}"/>
              </a:ext>
            </a:extLst>
          </p:cNvPr>
          <p:cNvPicPr>
            <a:picLocks noChangeAspect="1"/>
          </p:cNvPicPr>
          <p:nvPr/>
        </p:nvPicPr>
        <p:blipFill>
          <a:blip r:embed="rId4"/>
          <a:stretch>
            <a:fillRect/>
          </a:stretch>
        </p:blipFill>
        <p:spPr>
          <a:xfrm>
            <a:off x="10680970" y="0"/>
            <a:ext cx="1511029" cy="2085629"/>
          </a:xfrm>
          <a:prstGeom prst="rect">
            <a:avLst/>
          </a:prstGeom>
          <a:effectLst>
            <a:outerShdw blurRad="50800" dist="50800" dir="5400000" algn="ctr" rotWithShape="0">
              <a:schemeClr val="tx1"/>
            </a:outerShdw>
          </a:effectLst>
        </p:spPr>
      </p:pic>
      <p:pic>
        <p:nvPicPr>
          <p:cNvPr id="17" name="Picture 16">
            <a:extLst>
              <a:ext uri="{FF2B5EF4-FFF2-40B4-BE49-F238E27FC236}">
                <a16:creationId xmlns:a16="http://schemas.microsoft.com/office/drawing/2014/main" id="{814B78AE-9A30-5E47-2031-D41B982E03E2}"/>
              </a:ext>
            </a:extLst>
          </p:cNvPr>
          <p:cNvPicPr>
            <a:picLocks noChangeAspect="1"/>
          </p:cNvPicPr>
          <p:nvPr/>
        </p:nvPicPr>
        <p:blipFill>
          <a:blip r:embed="rId5"/>
          <a:stretch>
            <a:fillRect/>
          </a:stretch>
        </p:blipFill>
        <p:spPr>
          <a:xfrm>
            <a:off x="11060349" y="1352584"/>
            <a:ext cx="1131650" cy="1988429"/>
          </a:xfrm>
          <a:prstGeom prst="rect">
            <a:avLst/>
          </a:prstGeom>
        </p:spPr>
      </p:pic>
      <p:pic>
        <p:nvPicPr>
          <p:cNvPr id="18" name="Picture 17">
            <a:extLst>
              <a:ext uri="{FF2B5EF4-FFF2-40B4-BE49-F238E27FC236}">
                <a16:creationId xmlns:a16="http://schemas.microsoft.com/office/drawing/2014/main" id="{3E4DBF4E-78C0-A846-CDCF-DF0A7B65BB25}"/>
              </a:ext>
            </a:extLst>
          </p:cNvPr>
          <p:cNvPicPr>
            <a:picLocks noChangeAspect="1"/>
          </p:cNvPicPr>
          <p:nvPr/>
        </p:nvPicPr>
        <p:blipFill>
          <a:blip r:embed="rId6"/>
          <a:stretch>
            <a:fillRect/>
          </a:stretch>
        </p:blipFill>
        <p:spPr>
          <a:xfrm>
            <a:off x="11443705" y="3341013"/>
            <a:ext cx="748294" cy="1988429"/>
          </a:xfrm>
          <a:prstGeom prst="rect">
            <a:avLst/>
          </a:prstGeom>
        </p:spPr>
      </p:pic>
    </p:spTree>
    <p:extLst>
      <p:ext uri="{BB962C8B-B14F-4D97-AF65-F5344CB8AC3E}">
        <p14:creationId xmlns:p14="http://schemas.microsoft.com/office/powerpoint/2010/main" val="1359449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ACB37AB1-8B87-2872-422F-663D286A6C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3A0F92-57F9-D71F-7841-BC2D27C3137C}"/>
              </a:ext>
            </a:extLst>
          </p:cNvPr>
          <p:cNvSpPr txBox="1"/>
          <p:nvPr/>
        </p:nvSpPr>
        <p:spPr>
          <a:xfrm>
            <a:off x="1693161" y="149933"/>
            <a:ext cx="7811311" cy="369332"/>
          </a:xfrm>
          <a:prstGeom prst="rect">
            <a:avLst/>
          </a:prstGeom>
          <a:solidFill>
            <a:schemeClr val="bg1"/>
          </a:solidFill>
        </p:spPr>
        <p:txBody>
          <a:bodyPr wrap="square" rtlCol="0">
            <a:spAutoFit/>
          </a:bodyPr>
          <a:lstStyle/>
          <a:p>
            <a:pPr algn="ctr"/>
            <a:r>
              <a:rPr lang="en-IN" b="1" dirty="0"/>
              <a:t>12.</a:t>
            </a:r>
            <a:r>
              <a:rPr lang="en-IN" dirty="0"/>
              <a:t> Which director made the most movies?</a:t>
            </a:r>
          </a:p>
        </p:txBody>
      </p:sp>
      <p:sp>
        <p:nvSpPr>
          <p:cNvPr id="3" name="TextBox 2">
            <a:extLst>
              <a:ext uri="{FF2B5EF4-FFF2-40B4-BE49-F238E27FC236}">
                <a16:creationId xmlns:a16="http://schemas.microsoft.com/office/drawing/2014/main" id="{9FA30653-38D9-9155-3663-64884B1280D1}"/>
              </a:ext>
            </a:extLst>
          </p:cNvPr>
          <p:cNvSpPr txBox="1"/>
          <p:nvPr/>
        </p:nvSpPr>
        <p:spPr>
          <a:xfrm>
            <a:off x="428018" y="807397"/>
            <a:ext cx="11060348" cy="3078804"/>
          </a:xfrm>
          <a:prstGeom prst="rect">
            <a:avLst/>
          </a:prstGeom>
          <a:solidFill>
            <a:schemeClr val="bg1"/>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F1A193E9-D942-5253-BDC1-88B79C667D47}"/>
              </a:ext>
            </a:extLst>
          </p:cNvPr>
          <p:cNvSpPr txBox="1"/>
          <p:nvPr/>
        </p:nvSpPr>
        <p:spPr>
          <a:xfrm>
            <a:off x="428019" y="4160125"/>
            <a:ext cx="4153710" cy="2369880"/>
          </a:xfrm>
          <a:prstGeom prst="rect">
            <a:avLst/>
          </a:prstGeom>
          <a:solidFill>
            <a:schemeClr val="bg2">
              <a:lumMod val="90000"/>
            </a:schemeClr>
          </a:solidFill>
        </p:spPr>
        <p:txBody>
          <a:bodyPr wrap="square" rtlCol="0">
            <a:spAutoFit/>
          </a:bodyPr>
          <a:lstStyle/>
          <a:p>
            <a:r>
              <a:rPr lang="en-US" sz="1100" b="1" u="sng" dirty="0"/>
              <a:t>Insights:-</a:t>
            </a:r>
          </a:p>
          <a:p>
            <a:r>
              <a:rPr lang="en-US" sz="1200" dirty="0"/>
              <a:t>Top directors by number of movies”</a:t>
            </a:r>
            <a:br>
              <a:rPr lang="en-US" sz="1200" dirty="0"/>
            </a:br>
            <a:r>
              <a:rPr lang="en-US" sz="1200" dirty="0"/>
              <a:t>  Result: </a:t>
            </a:r>
            <a:r>
              <a:rPr lang="en-US" sz="1200" b="1" dirty="0"/>
              <a:t>3 directors have same highest count</a:t>
            </a:r>
          </a:p>
          <a:p>
            <a:endParaRPr lang="en-US" sz="1200" b="1" u="sng" dirty="0"/>
          </a:p>
          <a:p>
            <a:r>
              <a:rPr lang="en-US" sz="1200" b="1" dirty="0"/>
              <a:t>Balanced Contribution</a:t>
            </a:r>
          </a:p>
          <a:p>
            <a:r>
              <a:rPr lang="en-US" sz="1200" dirty="0"/>
              <a:t>“The workload is distributed across multiple directors rather than relying on a single individual.”</a:t>
            </a:r>
          </a:p>
          <a:p>
            <a:r>
              <a:rPr lang="en-US" sz="1200" dirty="0"/>
              <a:t>  </a:t>
            </a:r>
            <a:r>
              <a:rPr lang="en-US" sz="1200" b="1" u="sng" dirty="0"/>
              <a:t>Business Benefit:-</a:t>
            </a:r>
          </a:p>
          <a:p>
            <a:r>
              <a:rPr lang="en-US" sz="1200" dirty="0"/>
              <a:t>Reduced dependency </a:t>
            </a:r>
          </a:p>
          <a:p>
            <a:r>
              <a:rPr lang="en-US" sz="1200" dirty="0"/>
              <a:t>Better risk management </a:t>
            </a:r>
          </a:p>
          <a:p>
            <a:endParaRPr lang="en-US" sz="1100" b="1" u="sng" dirty="0"/>
          </a:p>
          <a:p>
            <a:endParaRPr lang="en-IN" dirty="0"/>
          </a:p>
        </p:txBody>
      </p:sp>
      <p:sp>
        <p:nvSpPr>
          <p:cNvPr id="13" name="TextBox 12">
            <a:extLst>
              <a:ext uri="{FF2B5EF4-FFF2-40B4-BE49-F238E27FC236}">
                <a16:creationId xmlns:a16="http://schemas.microsoft.com/office/drawing/2014/main" id="{9933FC02-7DEA-52AE-F040-6CF600215BC3}"/>
              </a:ext>
            </a:extLst>
          </p:cNvPr>
          <p:cNvSpPr txBox="1"/>
          <p:nvPr/>
        </p:nvSpPr>
        <p:spPr>
          <a:xfrm>
            <a:off x="5441003" y="4147183"/>
            <a:ext cx="6322978" cy="1477328"/>
          </a:xfrm>
          <a:prstGeom prst="rect">
            <a:avLst/>
          </a:prstGeom>
          <a:solidFill>
            <a:schemeClr val="bg2">
              <a:lumMod val="90000"/>
            </a:schemeClr>
          </a:solidFill>
        </p:spPr>
        <p:txBody>
          <a:bodyPr wrap="square" rtlCol="0">
            <a:spAutoFit/>
          </a:bodyPr>
          <a:lstStyle/>
          <a:p>
            <a:r>
              <a:rPr lang="en-US" dirty="0"/>
              <a:t>“The analysis shows that multiple directors share the top position in terms of movie count, indicating a balanced distribution of work. Since there is no clear leader, further evaluation based on revenue and ratings is required to identify the most effective director.</a:t>
            </a:r>
            <a:endParaRPr lang="en-IN" dirty="0"/>
          </a:p>
        </p:txBody>
      </p:sp>
      <p:pic>
        <p:nvPicPr>
          <p:cNvPr id="5" name="Picture 4">
            <a:extLst>
              <a:ext uri="{FF2B5EF4-FFF2-40B4-BE49-F238E27FC236}">
                <a16:creationId xmlns:a16="http://schemas.microsoft.com/office/drawing/2014/main" id="{289075F8-5104-99C1-21AF-5489595D56E6}"/>
              </a:ext>
            </a:extLst>
          </p:cNvPr>
          <p:cNvPicPr>
            <a:picLocks noChangeAspect="1"/>
          </p:cNvPicPr>
          <p:nvPr/>
        </p:nvPicPr>
        <p:blipFill>
          <a:blip r:embed="rId2"/>
          <a:stretch>
            <a:fillRect/>
          </a:stretch>
        </p:blipFill>
        <p:spPr>
          <a:xfrm>
            <a:off x="780307" y="903560"/>
            <a:ext cx="5922049" cy="1829912"/>
          </a:xfrm>
          <a:prstGeom prst="rect">
            <a:avLst/>
          </a:prstGeom>
        </p:spPr>
      </p:pic>
      <p:pic>
        <p:nvPicPr>
          <p:cNvPr id="7" name="Picture 6">
            <a:extLst>
              <a:ext uri="{FF2B5EF4-FFF2-40B4-BE49-F238E27FC236}">
                <a16:creationId xmlns:a16="http://schemas.microsoft.com/office/drawing/2014/main" id="{51BACA87-CBAF-7489-9B79-DFFE63565679}"/>
              </a:ext>
            </a:extLst>
          </p:cNvPr>
          <p:cNvPicPr>
            <a:picLocks noChangeAspect="1"/>
          </p:cNvPicPr>
          <p:nvPr/>
        </p:nvPicPr>
        <p:blipFill>
          <a:blip r:embed="rId3"/>
          <a:stretch>
            <a:fillRect/>
          </a:stretch>
        </p:blipFill>
        <p:spPr>
          <a:xfrm>
            <a:off x="7255845" y="1153065"/>
            <a:ext cx="4010585" cy="2538920"/>
          </a:xfrm>
          <a:prstGeom prst="rect">
            <a:avLst/>
          </a:prstGeom>
        </p:spPr>
      </p:pic>
      <p:pic>
        <p:nvPicPr>
          <p:cNvPr id="9" name="Picture 8">
            <a:extLst>
              <a:ext uri="{FF2B5EF4-FFF2-40B4-BE49-F238E27FC236}">
                <a16:creationId xmlns:a16="http://schemas.microsoft.com/office/drawing/2014/main" id="{B63C01DB-DD19-417B-3608-1D5FDD759FD5}"/>
              </a:ext>
            </a:extLst>
          </p:cNvPr>
          <p:cNvPicPr>
            <a:picLocks noChangeAspect="1"/>
          </p:cNvPicPr>
          <p:nvPr/>
        </p:nvPicPr>
        <p:blipFill>
          <a:blip r:embed="rId4"/>
          <a:stretch>
            <a:fillRect/>
          </a:stretch>
        </p:blipFill>
        <p:spPr>
          <a:xfrm>
            <a:off x="3993530" y="2282088"/>
            <a:ext cx="2819794" cy="1409897"/>
          </a:xfrm>
          <a:prstGeom prst="rect">
            <a:avLst/>
          </a:prstGeom>
        </p:spPr>
      </p:pic>
      <p:pic>
        <p:nvPicPr>
          <p:cNvPr id="18" name="Picture 17">
            <a:extLst>
              <a:ext uri="{FF2B5EF4-FFF2-40B4-BE49-F238E27FC236}">
                <a16:creationId xmlns:a16="http://schemas.microsoft.com/office/drawing/2014/main" id="{BD79DA71-B17F-9DFA-AF98-817499CDA488}"/>
              </a:ext>
            </a:extLst>
          </p:cNvPr>
          <p:cNvPicPr>
            <a:picLocks noChangeAspect="1"/>
          </p:cNvPicPr>
          <p:nvPr/>
        </p:nvPicPr>
        <p:blipFill>
          <a:blip r:embed="rId5"/>
          <a:stretch>
            <a:fillRect/>
          </a:stretch>
        </p:blipFill>
        <p:spPr>
          <a:xfrm>
            <a:off x="10953344" y="0"/>
            <a:ext cx="1238655" cy="2379258"/>
          </a:xfrm>
          <a:prstGeom prst="rect">
            <a:avLst/>
          </a:prstGeom>
        </p:spPr>
      </p:pic>
      <p:pic>
        <p:nvPicPr>
          <p:cNvPr id="19" name="Picture 18">
            <a:extLst>
              <a:ext uri="{FF2B5EF4-FFF2-40B4-BE49-F238E27FC236}">
                <a16:creationId xmlns:a16="http://schemas.microsoft.com/office/drawing/2014/main" id="{30C67318-F597-7BC7-76E6-CE255CBAAC24}"/>
              </a:ext>
            </a:extLst>
          </p:cNvPr>
          <p:cNvPicPr>
            <a:picLocks noChangeAspect="1"/>
          </p:cNvPicPr>
          <p:nvPr/>
        </p:nvPicPr>
        <p:blipFill>
          <a:blip r:embed="rId6"/>
          <a:stretch>
            <a:fillRect/>
          </a:stretch>
        </p:blipFill>
        <p:spPr>
          <a:xfrm>
            <a:off x="9504472" y="-72"/>
            <a:ext cx="1448873" cy="782145"/>
          </a:xfrm>
          <a:prstGeom prst="rect">
            <a:avLst/>
          </a:prstGeom>
        </p:spPr>
      </p:pic>
    </p:spTree>
    <p:extLst>
      <p:ext uri="{BB962C8B-B14F-4D97-AF65-F5344CB8AC3E}">
        <p14:creationId xmlns:p14="http://schemas.microsoft.com/office/powerpoint/2010/main" val="233317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9542EEFB-0C72-C1A1-E688-8030F9E82B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50BAF6-B0D9-68D5-D468-9AB4DEE3BE18}"/>
              </a:ext>
            </a:extLst>
          </p:cNvPr>
          <p:cNvSpPr txBox="1"/>
          <p:nvPr/>
        </p:nvSpPr>
        <p:spPr>
          <a:xfrm>
            <a:off x="1693161" y="164140"/>
            <a:ext cx="7811311" cy="369332"/>
          </a:xfrm>
          <a:prstGeom prst="rect">
            <a:avLst/>
          </a:prstGeom>
          <a:solidFill>
            <a:schemeClr val="bg1"/>
          </a:solidFill>
        </p:spPr>
        <p:txBody>
          <a:bodyPr wrap="square" rtlCol="0">
            <a:spAutoFit/>
          </a:bodyPr>
          <a:lstStyle/>
          <a:p>
            <a:pPr algn="ctr"/>
            <a:r>
              <a:rPr lang="en-IN" b="1" dirty="0"/>
              <a:t>13.</a:t>
            </a:r>
            <a:r>
              <a:rPr lang="en-IN" dirty="0"/>
              <a:t> Which director is the most bankable?</a:t>
            </a:r>
          </a:p>
        </p:txBody>
      </p:sp>
      <p:sp>
        <p:nvSpPr>
          <p:cNvPr id="3" name="TextBox 2">
            <a:extLst>
              <a:ext uri="{FF2B5EF4-FFF2-40B4-BE49-F238E27FC236}">
                <a16:creationId xmlns:a16="http://schemas.microsoft.com/office/drawing/2014/main" id="{4DAFF41B-CD67-A4EA-AE81-98586E6EA485}"/>
              </a:ext>
            </a:extLst>
          </p:cNvPr>
          <p:cNvSpPr txBox="1"/>
          <p:nvPr/>
        </p:nvSpPr>
        <p:spPr>
          <a:xfrm>
            <a:off x="428018" y="807397"/>
            <a:ext cx="10607491" cy="3078804"/>
          </a:xfrm>
          <a:prstGeom prst="rect">
            <a:avLst/>
          </a:prstGeom>
          <a:solidFill>
            <a:schemeClr val="bg1"/>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C316CB80-707D-B27C-E4C0-4CA1372036F0}"/>
              </a:ext>
            </a:extLst>
          </p:cNvPr>
          <p:cNvSpPr txBox="1"/>
          <p:nvPr/>
        </p:nvSpPr>
        <p:spPr>
          <a:xfrm>
            <a:off x="428019" y="4160125"/>
            <a:ext cx="4153710" cy="2200602"/>
          </a:xfrm>
          <a:prstGeom prst="rect">
            <a:avLst/>
          </a:prstGeom>
          <a:solidFill>
            <a:schemeClr val="bg2">
              <a:lumMod val="90000"/>
            </a:schemeClr>
          </a:solidFill>
        </p:spPr>
        <p:txBody>
          <a:bodyPr wrap="square" rtlCol="0">
            <a:spAutoFit/>
          </a:bodyPr>
          <a:lstStyle/>
          <a:p>
            <a:r>
              <a:rPr lang="en-US" sz="1100" b="1" u="sng" dirty="0"/>
              <a:t>Insights:-</a:t>
            </a:r>
          </a:p>
          <a:p>
            <a:r>
              <a:rPr lang="en-US" b="1" dirty="0"/>
              <a:t>Dominant Director</a:t>
            </a:r>
          </a:p>
          <a:p>
            <a:r>
              <a:rPr lang="en-US" dirty="0"/>
              <a:t>“James Cameron is the highest revenue-generating director in the dataset.”</a:t>
            </a:r>
          </a:p>
          <a:p>
            <a:r>
              <a:rPr lang="en-US" dirty="0"/>
              <a:t>  Meaning:</a:t>
            </a:r>
          </a:p>
          <a:p>
            <a:r>
              <a:rPr lang="en-US" dirty="0"/>
              <a:t>Clear top performer </a:t>
            </a:r>
          </a:p>
          <a:p>
            <a:r>
              <a:rPr lang="en-US" dirty="0"/>
              <a:t>Strong track record </a:t>
            </a:r>
          </a:p>
          <a:p>
            <a:endParaRPr lang="en-IN" dirty="0"/>
          </a:p>
        </p:txBody>
      </p:sp>
      <p:sp>
        <p:nvSpPr>
          <p:cNvPr id="13" name="TextBox 12">
            <a:extLst>
              <a:ext uri="{FF2B5EF4-FFF2-40B4-BE49-F238E27FC236}">
                <a16:creationId xmlns:a16="http://schemas.microsoft.com/office/drawing/2014/main" id="{A179DB64-CA27-0CDC-6DD4-C8BCB27BFBE0}"/>
              </a:ext>
            </a:extLst>
          </p:cNvPr>
          <p:cNvSpPr txBox="1"/>
          <p:nvPr/>
        </p:nvSpPr>
        <p:spPr>
          <a:xfrm>
            <a:off x="5165388" y="4160126"/>
            <a:ext cx="6322978" cy="1323439"/>
          </a:xfrm>
          <a:prstGeom prst="rect">
            <a:avLst/>
          </a:prstGeom>
          <a:solidFill>
            <a:schemeClr val="bg2">
              <a:lumMod val="90000"/>
            </a:schemeClr>
          </a:solidFill>
        </p:spPr>
        <p:txBody>
          <a:bodyPr wrap="square" rtlCol="0">
            <a:spAutoFit/>
          </a:bodyPr>
          <a:lstStyle/>
          <a:p>
            <a:r>
              <a:rPr lang="en-US" sz="2000" b="1" dirty="0"/>
              <a:t>The chart shows that James Cameron is the top revenue-generating director, significantly outperforming others. This highlights revenue concentration and the importance of director selection in driving movie success.</a:t>
            </a:r>
            <a:endParaRPr lang="en-IN" sz="2000" b="1" dirty="0"/>
          </a:p>
        </p:txBody>
      </p:sp>
      <p:pic>
        <p:nvPicPr>
          <p:cNvPr id="5" name="Picture 4">
            <a:extLst>
              <a:ext uri="{FF2B5EF4-FFF2-40B4-BE49-F238E27FC236}">
                <a16:creationId xmlns:a16="http://schemas.microsoft.com/office/drawing/2014/main" id="{7D1A5E34-2EA7-D120-CAD3-49D49EED64E0}"/>
              </a:ext>
            </a:extLst>
          </p:cNvPr>
          <p:cNvPicPr>
            <a:picLocks noChangeAspect="1"/>
          </p:cNvPicPr>
          <p:nvPr/>
        </p:nvPicPr>
        <p:blipFill>
          <a:blip r:embed="rId2"/>
          <a:stretch>
            <a:fillRect/>
          </a:stretch>
        </p:blipFill>
        <p:spPr>
          <a:xfrm>
            <a:off x="703634" y="839895"/>
            <a:ext cx="3459804" cy="1806028"/>
          </a:xfrm>
          <a:prstGeom prst="rect">
            <a:avLst/>
          </a:prstGeom>
        </p:spPr>
      </p:pic>
      <p:pic>
        <p:nvPicPr>
          <p:cNvPr id="7" name="Picture 6">
            <a:extLst>
              <a:ext uri="{FF2B5EF4-FFF2-40B4-BE49-F238E27FC236}">
                <a16:creationId xmlns:a16="http://schemas.microsoft.com/office/drawing/2014/main" id="{8A286E80-A034-5102-5CD3-0097849F280F}"/>
              </a:ext>
            </a:extLst>
          </p:cNvPr>
          <p:cNvPicPr>
            <a:picLocks noChangeAspect="1"/>
          </p:cNvPicPr>
          <p:nvPr/>
        </p:nvPicPr>
        <p:blipFill>
          <a:blip r:embed="rId3"/>
          <a:stretch>
            <a:fillRect/>
          </a:stretch>
        </p:blipFill>
        <p:spPr>
          <a:xfrm>
            <a:off x="1693161" y="2687267"/>
            <a:ext cx="4644960" cy="1207905"/>
          </a:xfrm>
          <a:prstGeom prst="rect">
            <a:avLst/>
          </a:prstGeom>
        </p:spPr>
      </p:pic>
      <p:pic>
        <p:nvPicPr>
          <p:cNvPr id="9" name="Picture 8">
            <a:extLst>
              <a:ext uri="{FF2B5EF4-FFF2-40B4-BE49-F238E27FC236}">
                <a16:creationId xmlns:a16="http://schemas.microsoft.com/office/drawing/2014/main" id="{EEDE6EBC-A7C9-EA69-B73C-0EAE6C0B7B95}"/>
              </a:ext>
            </a:extLst>
          </p:cNvPr>
          <p:cNvPicPr>
            <a:picLocks noChangeAspect="1"/>
          </p:cNvPicPr>
          <p:nvPr/>
        </p:nvPicPr>
        <p:blipFill>
          <a:blip r:embed="rId4"/>
          <a:stretch>
            <a:fillRect/>
          </a:stretch>
        </p:blipFill>
        <p:spPr>
          <a:xfrm>
            <a:off x="6676011" y="1252210"/>
            <a:ext cx="4191585" cy="1886213"/>
          </a:xfrm>
          <a:prstGeom prst="rect">
            <a:avLst/>
          </a:prstGeom>
        </p:spPr>
      </p:pic>
      <p:pic>
        <p:nvPicPr>
          <p:cNvPr id="10" name="Picture 9">
            <a:extLst>
              <a:ext uri="{FF2B5EF4-FFF2-40B4-BE49-F238E27FC236}">
                <a16:creationId xmlns:a16="http://schemas.microsoft.com/office/drawing/2014/main" id="{3B9A2928-D07A-C5A5-609D-B3EF38512F84}"/>
              </a:ext>
            </a:extLst>
          </p:cNvPr>
          <p:cNvPicPr>
            <a:picLocks noChangeAspect="1"/>
          </p:cNvPicPr>
          <p:nvPr/>
        </p:nvPicPr>
        <p:blipFill>
          <a:blip r:embed="rId5"/>
          <a:stretch>
            <a:fillRect/>
          </a:stretch>
        </p:blipFill>
        <p:spPr>
          <a:xfrm>
            <a:off x="11035509" y="5266340"/>
            <a:ext cx="1123862" cy="1568526"/>
          </a:xfrm>
          <a:prstGeom prst="rect">
            <a:avLst/>
          </a:prstGeom>
        </p:spPr>
      </p:pic>
      <p:pic>
        <p:nvPicPr>
          <p:cNvPr id="12" name="Picture 11">
            <a:extLst>
              <a:ext uri="{FF2B5EF4-FFF2-40B4-BE49-F238E27FC236}">
                <a16:creationId xmlns:a16="http://schemas.microsoft.com/office/drawing/2014/main" id="{68EF469B-2855-DD0B-5B4C-19781A64CB2F}"/>
              </a:ext>
            </a:extLst>
          </p:cNvPr>
          <p:cNvPicPr>
            <a:picLocks noChangeAspect="1"/>
          </p:cNvPicPr>
          <p:nvPr/>
        </p:nvPicPr>
        <p:blipFill>
          <a:blip r:embed="rId6"/>
          <a:stretch>
            <a:fillRect/>
          </a:stretch>
        </p:blipFill>
        <p:spPr>
          <a:xfrm>
            <a:off x="9826979" y="5506568"/>
            <a:ext cx="1208530" cy="1351432"/>
          </a:xfrm>
          <a:prstGeom prst="rect">
            <a:avLst/>
          </a:prstGeom>
        </p:spPr>
      </p:pic>
      <p:pic>
        <p:nvPicPr>
          <p:cNvPr id="17" name="Picture 16">
            <a:extLst>
              <a:ext uri="{FF2B5EF4-FFF2-40B4-BE49-F238E27FC236}">
                <a16:creationId xmlns:a16="http://schemas.microsoft.com/office/drawing/2014/main" id="{6BBF385A-7143-C5A0-A3A6-A20A2013BCF5}"/>
              </a:ext>
            </a:extLst>
          </p:cNvPr>
          <p:cNvPicPr>
            <a:picLocks noChangeAspect="1"/>
          </p:cNvPicPr>
          <p:nvPr/>
        </p:nvPicPr>
        <p:blipFill>
          <a:blip r:embed="rId7"/>
          <a:stretch>
            <a:fillRect/>
          </a:stretch>
        </p:blipFill>
        <p:spPr>
          <a:xfrm>
            <a:off x="5598816" y="5506567"/>
            <a:ext cx="1343020" cy="1323439"/>
          </a:xfrm>
          <a:prstGeom prst="rect">
            <a:avLst/>
          </a:prstGeom>
          <a:effectLst>
            <a:outerShdw blurRad="50800" dist="50800" dir="5400000" algn="ctr" rotWithShape="0">
              <a:schemeClr val="tx1">
                <a:lumMod val="50000"/>
                <a:lumOff val="50000"/>
              </a:schemeClr>
            </a:outerShdw>
          </a:effectLst>
        </p:spPr>
      </p:pic>
      <p:pic>
        <p:nvPicPr>
          <p:cNvPr id="18" name="Picture 17">
            <a:extLst>
              <a:ext uri="{FF2B5EF4-FFF2-40B4-BE49-F238E27FC236}">
                <a16:creationId xmlns:a16="http://schemas.microsoft.com/office/drawing/2014/main" id="{CF9FB913-E0F0-BBC8-9D0F-567B370CC961}"/>
              </a:ext>
            </a:extLst>
          </p:cNvPr>
          <p:cNvPicPr>
            <a:picLocks noChangeAspect="1"/>
          </p:cNvPicPr>
          <p:nvPr/>
        </p:nvPicPr>
        <p:blipFill>
          <a:blip r:embed="rId8"/>
          <a:stretch>
            <a:fillRect/>
          </a:stretch>
        </p:blipFill>
        <p:spPr>
          <a:xfrm>
            <a:off x="11042847" y="23134"/>
            <a:ext cx="1170562" cy="3887968"/>
          </a:xfrm>
          <a:prstGeom prst="rect">
            <a:avLst/>
          </a:prstGeom>
        </p:spPr>
      </p:pic>
      <p:pic>
        <p:nvPicPr>
          <p:cNvPr id="19" name="Picture 18">
            <a:extLst>
              <a:ext uri="{FF2B5EF4-FFF2-40B4-BE49-F238E27FC236}">
                <a16:creationId xmlns:a16="http://schemas.microsoft.com/office/drawing/2014/main" id="{85A10F62-E457-D411-0AA5-D740143AD2AD}"/>
              </a:ext>
            </a:extLst>
          </p:cNvPr>
          <p:cNvPicPr>
            <a:picLocks noChangeAspect="1"/>
          </p:cNvPicPr>
          <p:nvPr/>
        </p:nvPicPr>
        <p:blipFill>
          <a:blip r:embed="rId8"/>
          <a:stretch>
            <a:fillRect/>
          </a:stretch>
        </p:blipFill>
        <p:spPr>
          <a:xfrm>
            <a:off x="8675401" y="5506568"/>
            <a:ext cx="1170562" cy="1351432"/>
          </a:xfrm>
          <a:prstGeom prst="rect">
            <a:avLst/>
          </a:prstGeom>
        </p:spPr>
      </p:pic>
      <p:pic>
        <p:nvPicPr>
          <p:cNvPr id="20" name="Picture 19">
            <a:extLst>
              <a:ext uri="{FF2B5EF4-FFF2-40B4-BE49-F238E27FC236}">
                <a16:creationId xmlns:a16="http://schemas.microsoft.com/office/drawing/2014/main" id="{31D2381C-8129-1AD9-C6B4-1E29BBF7E2B0}"/>
              </a:ext>
            </a:extLst>
          </p:cNvPr>
          <p:cNvPicPr>
            <a:picLocks noChangeAspect="1"/>
          </p:cNvPicPr>
          <p:nvPr/>
        </p:nvPicPr>
        <p:blipFill>
          <a:blip r:embed="rId9"/>
          <a:stretch>
            <a:fillRect/>
          </a:stretch>
        </p:blipFill>
        <p:spPr>
          <a:xfrm>
            <a:off x="6969535" y="5506567"/>
            <a:ext cx="1678167" cy="1323439"/>
          </a:xfrm>
          <a:prstGeom prst="rect">
            <a:avLst/>
          </a:prstGeom>
          <a:effectLst>
            <a:outerShdw blurRad="50800" dist="50800" dir="5400000" algn="ctr" rotWithShape="0">
              <a:schemeClr val="tx1">
                <a:lumMod val="65000"/>
                <a:lumOff val="35000"/>
              </a:schemeClr>
            </a:outerShdw>
          </a:effectLst>
        </p:spPr>
      </p:pic>
      <p:pic>
        <p:nvPicPr>
          <p:cNvPr id="4" name="Picture 3">
            <a:extLst>
              <a:ext uri="{FF2B5EF4-FFF2-40B4-BE49-F238E27FC236}">
                <a16:creationId xmlns:a16="http://schemas.microsoft.com/office/drawing/2014/main" id="{2CB8D64B-BB2E-7E8A-0A78-53A51F974859}"/>
              </a:ext>
            </a:extLst>
          </p:cNvPr>
          <p:cNvPicPr>
            <a:picLocks noChangeAspect="1"/>
          </p:cNvPicPr>
          <p:nvPr/>
        </p:nvPicPr>
        <p:blipFill>
          <a:blip r:embed="rId8"/>
          <a:stretch>
            <a:fillRect/>
          </a:stretch>
        </p:blipFill>
        <p:spPr>
          <a:xfrm>
            <a:off x="4581728" y="5506566"/>
            <a:ext cx="989390" cy="1351433"/>
          </a:xfrm>
          <a:prstGeom prst="rect">
            <a:avLst/>
          </a:prstGeom>
        </p:spPr>
      </p:pic>
    </p:spTree>
    <p:extLst>
      <p:ext uri="{BB962C8B-B14F-4D97-AF65-F5344CB8AC3E}">
        <p14:creationId xmlns:p14="http://schemas.microsoft.com/office/powerpoint/2010/main" val="2398215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1D8161-D82A-29D0-E874-6231FAF1B794}"/>
              </a:ext>
            </a:extLst>
          </p:cNvPr>
          <p:cNvPicPr>
            <a:picLocks noChangeAspect="1"/>
          </p:cNvPicPr>
          <p:nvPr/>
        </p:nvPicPr>
        <p:blipFill>
          <a:blip r:embed="rId3"/>
          <a:stretch>
            <a:fillRect/>
          </a:stretch>
        </p:blipFill>
        <p:spPr>
          <a:xfrm>
            <a:off x="537387" y="313890"/>
            <a:ext cx="11117226" cy="6230219"/>
          </a:xfrm>
          <a:prstGeom prst="rect">
            <a:avLst/>
          </a:prstGeom>
        </p:spPr>
      </p:pic>
    </p:spTree>
    <p:extLst>
      <p:ext uri="{BB962C8B-B14F-4D97-AF65-F5344CB8AC3E}">
        <p14:creationId xmlns:p14="http://schemas.microsoft.com/office/powerpoint/2010/main" val="653790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5ACAA7-D995-80BB-54B0-BD92F41A2940}"/>
              </a:ext>
            </a:extLst>
          </p:cNvPr>
          <p:cNvPicPr>
            <a:picLocks noChangeAspect="1"/>
          </p:cNvPicPr>
          <p:nvPr/>
        </p:nvPicPr>
        <p:blipFill>
          <a:blip r:embed="rId2"/>
          <a:stretch>
            <a:fillRect/>
          </a:stretch>
        </p:blipFill>
        <p:spPr>
          <a:xfrm>
            <a:off x="565966" y="304364"/>
            <a:ext cx="11060068" cy="6249272"/>
          </a:xfrm>
          <a:prstGeom prst="rect">
            <a:avLst/>
          </a:prstGeom>
        </p:spPr>
      </p:pic>
    </p:spTree>
    <p:extLst>
      <p:ext uri="{BB962C8B-B14F-4D97-AF65-F5344CB8AC3E}">
        <p14:creationId xmlns:p14="http://schemas.microsoft.com/office/powerpoint/2010/main" val="3251625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F39444-B2E3-C254-CE36-31483FDD16DE}"/>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2755665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44CDF2B8-2273-691E-FC82-9E7E892213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69FBE8-564A-FB9B-18BB-524E6238D88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O</a:t>
            </a:r>
            <a:r>
              <a:rPr lang="en-IN" b="1" dirty="0" err="1"/>
              <a:t>verAll</a:t>
            </a:r>
            <a:r>
              <a:rPr lang="en-IN" b="1" dirty="0"/>
              <a:t> Insights:-</a:t>
            </a:r>
          </a:p>
        </p:txBody>
      </p:sp>
      <p:sp>
        <p:nvSpPr>
          <p:cNvPr id="3" name="TextBox 2">
            <a:extLst>
              <a:ext uri="{FF2B5EF4-FFF2-40B4-BE49-F238E27FC236}">
                <a16:creationId xmlns:a16="http://schemas.microsoft.com/office/drawing/2014/main" id="{F5BC748A-D94E-78FE-30C0-F154C0AD5A69}"/>
              </a:ext>
            </a:extLst>
          </p:cNvPr>
          <p:cNvSpPr txBox="1"/>
          <p:nvPr/>
        </p:nvSpPr>
        <p:spPr>
          <a:xfrm>
            <a:off x="223736" y="817123"/>
            <a:ext cx="11614825" cy="5447645"/>
          </a:xfrm>
          <a:prstGeom prst="rect">
            <a:avLst/>
          </a:prstGeom>
          <a:solidFill>
            <a:schemeClr val="bg2">
              <a:lumMod val="90000"/>
            </a:schemeClr>
          </a:solidFill>
        </p:spPr>
        <p:txBody>
          <a:bodyPr wrap="square" rtlCol="0">
            <a:spAutoFit/>
          </a:bodyPr>
          <a:lstStyle/>
          <a:p>
            <a:r>
              <a:rPr lang="en-US" b="1" u="sng" dirty="0"/>
              <a:t>Insights:- </a:t>
            </a:r>
          </a:p>
          <a:p>
            <a:r>
              <a:rPr lang="en-US" sz="1400" b="1" u="sng" dirty="0"/>
              <a:t>Hit-Driven Industry</a:t>
            </a:r>
          </a:p>
          <a:p>
            <a:r>
              <a:rPr lang="en-US" sz="1400" dirty="0"/>
              <a:t>“The movie industry is highly hit-driven, where a small number of movies generate the majority of total revenue.”</a:t>
            </a:r>
          </a:p>
          <a:p>
            <a:r>
              <a:rPr lang="en-US" sz="1400" dirty="0"/>
              <a:t> From:</a:t>
            </a:r>
          </a:p>
          <a:p>
            <a:r>
              <a:rPr lang="en-US" sz="1400" dirty="0"/>
              <a:t>Avatar dominating revenue </a:t>
            </a:r>
          </a:p>
          <a:p>
            <a:r>
              <a:rPr lang="en-US" sz="1400" dirty="0"/>
              <a:t>Few top movies</a:t>
            </a:r>
          </a:p>
          <a:p>
            <a:r>
              <a:rPr lang="en-US" sz="1400" dirty="0"/>
              <a:t>.</a:t>
            </a:r>
            <a:r>
              <a:rPr lang="en-US" sz="1400" b="1" dirty="0"/>
              <a:t> 2. </a:t>
            </a:r>
            <a:r>
              <a:rPr lang="en-US" sz="1400" b="1" u="sng" dirty="0"/>
              <a:t>Strong Financial Performance</a:t>
            </a:r>
          </a:p>
          <a:p>
            <a:r>
              <a:rPr lang="en-US" sz="1400" dirty="0"/>
              <a:t>“With a total revenue of 39B against a 10B budget, the portfolio shows high profitability.”</a:t>
            </a:r>
          </a:p>
          <a:p>
            <a:r>
              <a:rPr lang="en-US" sz="1400" dirty="0"/>
              <a:t> Meaning:</a:t>
            </a:r>
          </a:p>
          <a:p>
            <a:r>
              <a:rPr lang="en-US" sz="1400" dirty="0"/>
              <a:t>~4x return </a:t>
            </a:r>
          </a:p>
          <a:p>
            <a:r>
              <a:rPr lang="en-US" sz="1400" dirty="0"/>
              <a:t>Successful </a:t>
            </a:r>
            <a:r>
              <a:rPr lang="en-US" sz="1400" dirty="0" err="1"/>
              <a:t>investmen</a:t>
            </a:r>
            <a:endParaRPr lang="en-US" sz="1400" dirty="0"/>
          </a:p>
          <a:p>
            <a:r>
              <a:rPr lang="en-US" sz="1400" b="1" dirty="0"/>
              <a:t>3.</a:t>
            </a:r>
            <a:r>
              <a:rPr lang="en-US" sz="1400" b="1" u="sng" dirty="0"/>
              <a:t>Budget ≠ Success</a:t>
            </a:r>
          </a:p>
          <a:p>
            <a:r>
              <a:rPr lang="en-US" sz="1400" dirty="0"/>
              <a:t>“Higher budget does not guarantee higher revenue.”</a:t>
            </a:r>
          </a:p>
          <a:p>
            <a:r>
              <a:rPr lang="en-US" sz="1400" dirty="0"/>
              <a:t> From:</a:t>
            </a:r>
          </a:p>
          <a:p>
            <a:r>
              <a:rPr lang="en-US" sz="1400" dirty="0"/>
              <a:t>Scatter plot analysis</a:t>
            </a:r>
          </a:p>
          <a:p>
            <a:r>
              <a:rPr lang="en-US" sz="1400" b="1" dirty="0"/>
              <a:t>4.</a:t>
            </a:r>
            <a:r>
              <a:rPr lang="en-US" sz="1400" b="1" u="sng" dirty="0"/>
              <a:t>Director Impact is Critical</a:t>
            </a:r>
          </a:p>
          <a:p>
            <a:r>
              <a:rPr lang="en-US" sz="1400" dirty="0"/>
              <a:t>“A few directors, especially top performers, contribute significantly to overall revenue.”</a:t>
            </a:r>
          </a:p>
          <a:p>
            <a:r>
              <a:rPr lang="en-US" sz="1400" dirty="0"/>
              <a:t> Example:</a:t>
            </a:r>
          </a:p>
          <a:p>
            <a:r>
              <a:rPr lang="en-US" sz="1400" dirty="0"/>
              <a:t>James Cameron dominance</a:t>
            </a:r>
          </a:p>
          <a:p>
            <a:r>
              <a:rPr lang="en-US" sz="1400" b="1" u="sng" dirty="0"/>
              <a:t>5.Gender Imbalance Exists</a:t>
            </a:r>
          </a:p>
          <a:p>
            <a:r>
              <a:rPr lang="en-US" sz="1400" dirty="0"/>
              <a:t>“Female directors are significantly underrepresented in the dataset.”</a:t>
            </a:r>
          </a:p>
          <a:p>
            <a:r>
              <a:rPr lang="en-US" sz="1400" dirty="0"/>
              <a:t> Insight:</a:t>
            </a:r>
          </a:p>
          <a:p>
            <a:endParaRPr lang="en-US" dirty="0"/>
          </a:p>
          <a:p>
            <a:endParaRPr lang="en-IN" dirty="0"/>
          </a:p>
        </p:txBody>
      </p:sp>
      <p:pic>
        <p:nvPicPr>
          <p:cNvPr id="8" name="Picture 7">
            <a:extLst>
              <a:ext uri="{FF2B5EF4-FFF2-40B4-BE49-F238E27FC236}">
                <a16:creationId xmlns:a16="http://schemas.microsoft.com/office/drawing/2014/main" id="{D6335E7E-1F01-C05C-0C2A-E7209D33FF42}"/>
              </a:ext>
            </a:extLst>
          </p:cNvPr>
          <p:cNvPicPr>
            <a:picLocks noChangeAspect="1"/>
          </p:cNvPicPr>
          <p:nvPr/>
        </p:nvPicPr>
        <p:blipFill>
          <a:blip r:embed="rId2"/>
          <a:stretch>
            <a:fillRect/>
          </a:stretch>
        </p:blipFill>
        <p:spPr>
          <a:xfrm>
            <a:off x="10000635" y="1896893"/>
            <a:ext cx="1356164" cy="2329430"/>
          </a:xfrm>
          <a:prstGeom prst="rect">
            <a:avLst/>
          </a:prstGeom>
          <a:effectLst>
            <a:outerShdw blurRad="50800" dist="50800" dir="5400000" algn="ctr" rotWithShape="0">
              <a:schemeClr val="bg1"/>
            </a:outerShdw>
          </a:effectLst>
        </p:spPr>
      </p:pic>
      <p:pic>
        <p:nvPicPr>
          <p:cNvPr id="9" name="Picture 8">
            <a:extLst>
              <a:ext uri="{FF2B5EF4-FFF2-40B4-BE49-F238E27FC236}">
                <a16:creationId xmlns:a16="http://schemas.microsoft.com/office/drawing/2014/main" id="{4AB1DF61-61B6-6BF8-7DD7-D9B8778F85CC}"/>
              </a:ext>
            </a:extLst>
          </p:cNvPr>
          <p:cNvPicPr>
            <a:picLocks noChangeAspect="1"/>
          </p:cNvPicPr>
          <p:nvPr/>
        </p:nvPicPr>
        <p:blipFill>
          <a:blip r:embed="rId3"/>
          <a:stretch>
            <a:fillRect/>
          </a:stretch>
        </p:blipFill>
        <p:spPr>
          <a:xfrm>
            <a:off x="10913464" y="4476870"/>
            <a:ext cx="1278536" cy="2381129"/>
          </a:xfrm>
          <a:prstGeom prst="rect">
            <a:avLst/>
          </a:prstGeom>
        </p:spPr>
      </p:pic>
      <p:pic>
        <p:nvPicPr>
          <p:cNvPr id="10" name="Picture 9">
            <a:extLst>
              <a:ext uri="{FF2B5EF4-FFF2-40B4-BE49-F238E27FC236}">
                <a16:creationId xmlns:a16="http://schemas.microsoft.com/office/drawing/2014/main" id="{FBECD601-E714-8F10-C94F-7916C01E6C28}"/>
              </a:ext>
            </a:extLst>
          </p:cNvPr>
          <p:cNvPicPr>
            <a:picLocks noChangeAspect="1"/>
          </p:cNvPicPr>
          <p:nvPr/>
        </p:nvPicPr>
        <p:blipFill>
          <a:blip r:embed="rId4"/>
          <a:stretch>
            <a:fillRect/>
          </a:stretch>
        </p:blipFill>
        <p:spPr>
          <a:xfrm>
            <a:off x="11005018" y="0"/>
            <a:ext cx="1170562" cy="2577830"/>
          </a:xfrm>
          <a:prstGeom prst="rect">
            <a:avLst/>
          </a:prstGeom>
        </p:spPr>
      </p:pic>
      <p:pic>
        <p:nvPicPr>
          <p:cNvPr id="11" name="Picture 10">
            <a:extLst>
              <a:ext uri="{FF2B5EF4-FFF2-40B4-BE49-F238E27FC236}">
                <a16:creationId xmlns:a16="http://schemas.microsoft.com/office/drawing/2014/main" id="{AD1970AD-DD25-2DB4-F2EF-2042159A3B4A}"/>
              </a:ext>
            </a:extLst>
          </p:cNvPr>
          <p:cNvPicPr>
            <a:picLocks noChangeAspect="1"/>
          </p:cNvPicPr>
          <p:nvPr/>
        </p:nvPicPr>
        <p:blipFill>
          <a:blip r:embed="rId5"/>
          <a:stretch>
            <a:fillRect/>
          </a:stretch>
        </p:blipFill>
        <p:spPr>
          <a:xfrm>
            <a:off x="10913464" y="2443486"/>
            <a:ext cx="1223168" cy="2381129"/>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1710019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29FD60DD-375D-B4E9-B0FF-FA42637E59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CBDC5D-C471-F720-B6B6-D1134723DD81}"/>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O</a:t>
            </a:r>
            <a:r>
              <a:rPr lang="en-IN" b="1" dirty="0" err="1"/>
              <a:t>ver</a:t>
            </a:r>
            <a:r>
              <a:rPr lang="en-IN" b="1" dirty="0"/>
              <a:t> All Insights:-</a:t>
            </a:r>
          </a:p>
        </p:txBody>
      </p:sp>
      <p:sp>
        <p:nvSpPr>
          <p:cNvPr id="3" name="TextBox 2">
            <a:extLst>
              <a:ext uri="{FF2B5EF4-FFF2-40B4-BE49-F238E27FC236}">
                <a16:creationId xmlns:a16="http://schemas.microsoft.com/office/drawing/2014/main" id="{6309107A-6146-2394-A9FE-AB5BEEA90BB8}"/>
              </a:ext>
            </a:extLst>
          </p:cNvPr>
          <p:cNvSpPr txBox="1"/>
          <p:nvPr/>
        </p:nvSpPr>
        <p:spPr>
          <a:xfrm>
            <a:off x="223736" y="817123"/>
            <a:ext cx="11614825" cy="5416868"/>
          </a:xfrm>
          <a:prstGeom prst="rect">
            <a:avLst/>
          </a:prstGeom>
          <a:solidFill>
            <a:schemeClr val="bg1"/>
          </a:solidFill>
        </p:spPr>
        <p:txBody>
          <a:bodyPr wrap="square" rtlCol="0">
            <a:spAutoFit/>
          </a:bodyPr>
          <a:lstStyle/>
          <a:p>
            <a:r>
              <a:rPr lang="en-US" b="1" u="sng" dirty="0" err="1"/>
              <a:t>Suggessions</a:t>
            </a:r>
            <a:r>
              <a:rPr lang="en-US" b="1" u="sng" dirty="0"/>
              <a:t>:-</a:t>
            </a:r>
          </a:p>
          <a:p>
            <a:r>
              <a:rPr lang="en-US" sz="1400" b="1" dirty="0"/>
              <a:t>Focus on High ROI Movies</a:t>
            </a:r>
          </a:p>
          <a:p>
            <a:r>
              <a:rPr lang="en-US" sz="1400" dirty="0"/>
              <a:t>“Identify and invest in movies that generate high revenue with relatively lower budgets.”</a:t>
            </a:r>
          </a:p>
          <a:p>
            <a:r>
              <a:rPr lang="en-US" sz="1400" dirty="0"/>
              <a:t>  Why:</a:t>
            </a:r>
          </a:p>
          <a:p>
            <a:r>
              <a:rPr lang="en-US" sz="1400" dirty="0"/>
              <a:t>Maximizes profit </a:t>
            </a:r>
          </a:p>
          <a:p>
            <a:r>
              <a:rPr lang="en-US" sz="1400" dirty="0"/>
              <a:t>Reduces financial risk </a:t>
            </a:r>
          </a:p>
          <a:p>
            <a:r>
              <a:rPr lang="en-US" sz="1400" b="1" dirty="0"/>
              <a:t>Leverage Top Directors</a:t>
            </a:r>
          </a:p>
          <a:p>
            <a:r>
              <a:rPr lang="en-US" sz="1400" dirty="0"/>
              <a:t>“Collaborate more with high-performing directors who consistently deliver strong revenue.”</a:t>
            </a:r>
          </a:p>
          <a:p>
            <a:r>
              <a:rPr lang="en-US" sz="1400" dirty="0"/>
              <a:t>  Example:</a:t>
            </a:r>
          </a:p>
          <a:p>
            <a:r>
              <a:rPr lang="en-US" sz="1400" dirty="0"/>
              <a:t>Directors like top performers in your dataset</a:t>
            </a:r>
          </a:p>
          <a:p>
            <a:r>
              <a:rPr lang="en-US" sz="1400" b="1" dirty="0"/>
              <a:t>Reduce Over-Dependence</a:t>
            </a:r>
          </a:p>
          <a:p>
            <a:r>
              <a:rPr lang="en-US" sz="1400" dirty="0"/>
              <a:t>“Avoid relying on a small number of directors or blockbuster movies.”</a:t>
            </a:r>
          </a:p>
          <a:p>
            <a:r>
              <a:rPr lang="en-US" sz="1400" dirty="0"/>
              <a:t>  Why:</a:t>
            </a:r>
          </a:p>
          <a:p>
            <a:r>
              <a:rPr lang="en-US" sz="1400" dirty="0"/>
              <a:t>High risk if they fail</a:t>
            </a:r>
          </a:p>
          <a:p>
            <a:r>
              <a:rPr lang="en-US" sz="1400" b="1" dirty="0"/>
              <a:t>Improve Content Quality</a:t>
            </a:r>
          </a:p>
          <a:p>
            <a:r>
              <a:rPr lang="en-US" sz="1400" dirty="0"/>
              <a:t>“Focus on increasing average ratings by investing in better storytelling and production quality.”</a:t>
            </a:r>
          </a:p>
          <a:p>
            <a:r>
              <a:rPr lang="en-US" sz="1400" dirty="0"/>
              <a:t>   Why:</a:t>
            </a:r>
          </a:p>
          <a:p>
            <a:r>
              <a:rPr lang="en-US" sz="1400" dirty="0"/>
              <a:t>Builds long-term audience trust </a:t>
            </a:r>
          </a:p>
          <a:p>
            <a:pPr marL="285750" indent="-285750">
              <a:buFont typeface="Arial" panose="020B0604020202020204" pitchFamily="34" charset="0"/>
              <a:buChar char="•"/>
            </a:pPr>
            <a:r>
              <a:rPr lang="en-US" dirty="0"/>
              <a:t> </a:t>
            </a:r>
            <a:r>
              <a:rPr lang="en-US" u="sng" dirty="0"/>
              <a:t>   over all insights:-         </a:t>
            </a:r>
          </a:p>
          <a:p>
            <a:endParaRPr lang="en-US" dirty="0"/>
          </a:p>
          <a:p>
            <a:r>
              <a:rPr lang="en-US" dirty="0"/>
              <a:t>Based on the analysis, I recommend focusing on high ROI projects, leveraging top-performing directors, improving content quality, and using data-driven strategies to optimize future decisions while also addressing diversity and data quality gaps.”</a:t>
            </a:r>
          </a:p>
          <a:p>
            <a:endParaRPr lang="en-IN" b="1" u="sng" dirty="0"/>
          </a:p>
        </p:txBody>
      </p:sp>
      <p:pic>
        <p:nvPicPr>
          <p:cNvPr id="8" name="Picture 7">
            <a:extLst>
              <a:ext uri="{FF2B5EF4-FFF2-40B4-BE49-F238E27FC236}">
                <a16:creationId xmlns:a16="http://schemas.microsoft.com/office/drawing/2014/main" id="{0D829915-9795-F6A0-38CE-8816C0F61453}"/>
              </a:ext>
            </a:extLst>
          </p:cNvPr>
          <p:cNvPicPr>
            <a:picLocks noChangeAspect="1"/>
          </p:cNvPicPr>
          <p:nvPr/>
        </p:nvPicPr>
        <p:blipFill>
          <a:blip r:embed="rId3"/>
          <a:stretch>
            <a:fillRect/>
          </a:stretch>
        </p:blipFill>
        <p:spPr>
          <a:xfrm>
            <a:off x="11311527" y="2577830"/>
            <a:ext cx="880473" cy="2414202"/>
          </a:xfrm>
          <a:prstGeom prst="rect">
            <a:avLst/>
          </a:prstGeom>
          <a:effectLst>
            <a:outerShdw blurRad="50800" dist="50800" dir="5400000" algn="ctr" rotWithShape="0">
              <a:schemeClr val="tx1"/>
            </a:outerShdw>
          </a:effectLst>
        </p:spPr>
      </p:pic>
      <p:pic>
        <p:nvPicPr>
          <p:cNvPr id="9" name="Picture 8">
            <a:extLst>
              <a:ext uri="{FF2B5EF4-FFF2-40B4-BE49-F238E27FC236}">
                <a16:creationId xmlns:a16="http://schemas.microsoft.com/office/drawing/2014/main" id="{3F8FF77A-F95A-29D6-2E8C-695B3272F06C}"/>
              </a:ext>
            </a:extLst>
          </p:cNvPr>
          <p:cNvPicPr>
            <a:picLocks noChangeAspect="1"/>
          </p:cNvPicPr>
          <p:nvPr/>
        </p:nvPicPr>
        <p:blipFill>
          <a:blip r:embed="rId4"/>
          <a:stretch>
            <a:fillRect/>
          </a:stretch>
        </p:blipFill>
        <p:spPr>
          <a:xfrm>
            <a:off x="10258806" y="2076480"/>
            <a:ext cx="1356164" cy="2329430"/>
          </a:xfrm>
          <a:prstGeom prst="rect">
            <a:avLst/>
          </a:prstGeom>
          <a:effectLst>
            <a:outerShdw blurRad="50800" dist="50800" dir="5400000" algn="ctr" rotWithShape="0">
              <a:schemeClr val="bg1"/>
            </a:outerShdw>
          </a:effectLst>
        </p:spPr>
      </p:pic>
      <p:pic>
        <p:nvPicPr>
          <p:cNvPr id="10" name="Picture 9">
            <a:extLst>
              <a:ext uri="{FF2B5EF4-FFF2-40B4-BE49-F238E27FC236}">
                <a16:creationId xmlns:a16="http://schemas.microsoft.com/office/drawing/2014/main" id="{E4B65779-074C-10A6-925A-F5D792C4FF50}"/>
              </a:ext>
            </a:extLst>
          </p:cNvPr>
          <p:cNvPicPr>
            <a:picLocks noChangeAspect="1"/>
          </p:cNvPicPr>
          <p:nvPr/>
        </p:nvPicPr>
        <p:blipFill>
          <a:blip r:embed="rId5"/>
          <a:stretch>
            <a:fillRect/>
          </a:stretch>
        </p:blipFill>
        <p:spPr>
          <a:xfrm>
            <a:off x="11021438" y="0"/>
            <a:ext cx="1170562" cy="2577830"/>
          </a:xfrm>
          <a:prstGeom prst="rect">
            <a:avLst/>
          </a:prstGeom>
        </p:spPr>
      </p:pic>
    </p:spTree>
    <p:extLst>
      <p:ext uri="{BB962C8B-B14F-4D97-AF65-F5344CB8AC3E}">
        <p14:creationId xmlns:p14="http://schemas.microsoft.com/office/powerpoint/2010/main" val="2633655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alpha val="63000"/>
          </a:schemeClr>
        </a:solidFill>
        <a:effectLst/>
      </p:bgPr>
    </p:bg>
    <p:spTree>
      <p:nvGrpSpPr>
        <p:cNvPr id="1" name="">
          <a:extLst>
            <a:ext uri="{FF2B5EF4-FFF2-40B4-BE49-F238E27FC236}">
              <a16:creationId xmlns:a16="http://schemas.microsoft.com/office/drawing/2014/main" id="{7200136D-CB49-EE3E-1EE6-A79863E0EA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8AAA4C-40D2-10EF-99B2-26F8CDD74F92}"/>
              </a:ext>
            </a:extLst>
          </p:cNvPr>
          <p:cNvSpPr txBox="1"/>
          <p:nvPr/>
        </p:nvSpPr>
        <p:spPr>
          <a:xfrm>
            <a:off x="1789889" y="194553"/>
            <a:ext cx="7811311" cy="369332"/>
          </a:xfrm>
          <a:prstGeom prst="rect">
            <a:avLst/>
          </a:prstGeom>
          <a:solidFill>
            <a:schemeClr val="bg1"/>
          </a:solidFill>
        </p:spPr>
        <p:txBody>
          <a:bodyPr wrap="square" rtlCol="0">
            <a:spAutoFit/>
          </a:bodyPr>
          <a:lstStyle/>
          <a:p>
            <a:pPr algn="ctr"/>
            <a:r>
              <a:rPr lang="en-US" b="1" dirty="0"/>
              <a:t>O</a:t>
            </a:r>
            <a:r>
              <a:rPr lang="en-IN" b="1" dirty="0" err="1"/>
              <a:t>ver</a:t>
            </a:r>
            <a:r>
              <a:rPr lang="en-IN" b="1" dirty="0"/>
              <a:t> All Insights:-</a:t>
            </a:r>
          </a:p>
        </p:txBody>
      </p:sp>
      <p:sp>
        <p:nvSpPr>
          <p:cNvPr id="3" name="TextBox 2">
            <a:extLst>
              <a:ext uri="{FF2B5EF4-FFF2-40B4-BE49-F238E27FC236}">
                <a16:creationId xmlns:a16="http://schemas.microsoft.com/office/drawing/2014/main" id="{4B7B9DEE-D6B4-01C2-8566-31700FFF07FB}"/>
              </a:ext>
            </a:extLst>
          </p:cNvPr>
          <p:cNvSpPr txBox="1"/>
          <p:nvPr/>
        </p:nvSpPr>
        <p:spPr>
          <a:xfrm>
            <a:off x="288587" y="807555"/>
            <a:ext cx="11614825" cy="3754874"/>
          </a:xfrm>
          <a:prstGeom prst="rect">
            <a:avLst/>
          </a:prstGeom>
          <a:solidFill>
            <a:schemeClr val="bg2">
              <a:lumMod val="75000"/>
            </a:schemeClr>
          </a:solidFill>
        </p:spPr>
        <p:txBody>
          <a:bodyPr wrap="square" rtlCol="0">
            <a:spAutoFit/>
          </a:bodyPr>
          <a:lstStyle/>
          <a:p>
            <a:r>
              <a:rPr lang="en-US" sz="2000" b="1" u="sng" dirty="0"/>
              <a:t>Conclusion Insights:-</a:t>
            </a:r>
          </a:p>
          <a:p>
            <a:pPr marL="342900" indent="-342900">
              <a:buFont typeface="Arial" panose="020B0604020202020204" pitchFamily="34" charset="0"/>
              <a:buChar char="•"/>
            </a:pPr>
            <a:r>
              <a:rPr lang="en-US" b="1" dirty="0"/>
              <a:t>                In conclusion, the analysis of the IMDB movies dataset provides valuable insights into the key factors that drive success in the movie industry. The findings reveal that the industry is highly hit-driven, where a small number of blockbuster movies and top-performing directors contribute significantly to total revenue. </a:t>
            </a:r>
          </a:p>
          <a:p>
            <a:pPr marL="342900" indent="-342900">
              <a:buFont typeface="Arial" panose="020B0604020202020204" pitchFamily="34" charset="0"/>
              <a:buChar char="•"/>
            </a:pPr>
            <a:r>
              <a:rPr lang="en-US" b="1" dirty="0"/>
              <a:t>        Despite a high overall return on investment, the analysis highlights that a larger budget does not always guarantee success, and some low-budget movies achieve exceptional performance, indicating the importance of efficient resource utilization. Additionally, there is a noticeable gap between critical success and commercial performance, as highly rated movies do not always generate the highest revenue.</a:t>
            </a:r>
          </a:p>
          <a:p>
            <a:pPr marL="342900" indent="-342900">
              <a:buFont typeface="Arial" panose="020B0604020202020204" pitchFamily="34" charset="0"/>
              <a:buChar char="•"/>
            </a:pPr>
            <a:r>
              <a:rPr lang="en-US" b="1" dirty="0"/>
              <a:t>           The study also identifies important areas for improvement, such as the need for better content quality, reduced dependency on a few directors, and increased diversity among filmmakers. Overall, this analysis emphasizes the importance of data-driven decision-making, strategic investment, and balanced risk management to achieve sustainable growth and long-term success in the movie industry</a:t>
            </a:r>
            <a:r>
              <a:rPr lang="en-US" sz="2000" b="1" dirty="0"/>
              <a:t>.</a:t>
            </a:r>
          </a:p>
          <a:p>
            <a:endParaRPr lang="en-IN" b="1" u="sng" dirty="0"/>
          </a:p>
        </p:txBody>
      </p:sp>
      <p:pic>
        <p:nvPicPr>
          <p:cNvPr id="8" name="Picture 7">
            <a:extLst>
              <a:ext uri="{FF2B5EF4-FFF2-40B4-BE49-F238E27FC236}">
                <a16:creationId xmlns:a16="http://schemas.microsoft.com/office/drawing/2014/main" id="{225AF3B9-79DC-6940-80C6-1FEDAE5F423A}"/>
              </a:ext>
            </a:extLst>
          </p:cNvPr>
          <p:cNvPicPr>
            <a:picLocks noChangeAspect="1"/>
          </p:cNvPicPr>
          <p:nvPr/>
        </p:nvPicPr>
        <p:blipFill>
          <a:blip r:embed="rId3"/>
          <a:stretch>
            <a:fillRect/>
          </a:stretch>
        </p:blipFill>
        <p:spPr>
          <a:xfrm>
            <a:off x="10794867" y="4221803"/>
            <a:ext cx="1317811" cy="2574533"/>
          </a:xfrm>
          <a:prstGeom prst="rect">
            <a:avLst/>
          </a:prstGeom>
        </p:spPr>
      </p:pic>
      <p:pic>
        <p:nvPicPr>
          <p:cNvPr id="9" name="Picture 8">
            <a:extLst>
              <a:ext uri="{FF2B5EF4-FFF2-40B4-BE49-F238E27FC236}">
                <a16:creationId xmlns:a16="http://schemas.microsoft.com/office/drawing/2014/main" id="{1B4B3B5D-F392-832E-C0FD-B31956FE47F9}"/>
              </a:ext>
            </a:extLst>
          </p:cNvPr>
          <p:cNvPicPr>
            <a:picLocks noChangeAspect="1"/>
          </p:cNvPicPr>
          <p:nvPr/>
        </p:nvPicPr>
        <p:blipFill>
          <a:blip r:embed="rId4"/>
          <a:stretch>
            <a:fillRect/>
          </a:stretch>
        </p:blipFill>
        <p:spPr>
          <a:xfrm>
            <a:off x="6287811" y="4593259"/>
            <a:ext cx="1502352" cy="2264741"/>
          </a:xfrm>
          <a:prstGeom prst="rect">
            <a:avLst/>
          </a:prstGeom>
        </p:spPr>
      </p:pic>
      <p:pic>
        <p:nvPicPr>
          <p:cNvPr id="10" name="Picture 9">
            <a:extLst>
              <a:ext uri="{FF2B5EF4-FFF2-40B4-BE49-F238E27FC236}">
                <a16:creationId xmlns:a16="http://schemas.microsoft.com/office/drawing/2014/main" id="{BC705FD3-040B-CDD2-E1D3-0DE7581706AF}"/>
              </a:ext>
            </a:extLst>
          </p:cNvPr>
          <p:cNvPicPr>
            <a:picLocks noChangeAspect="1"/>
          </p:cNvPicPr>
          <p:nvPr/>
        </p:nvPicPr>
        <p:blipFill>
          <a:blip r:embed="rId5"/>
          <a:stretch>
            <a:fillRect/>
          </a:stretch>
        </p:blipFill>
        <p:spPr>
          <a:xfrm>
            <a:off x="1" y="4455269"/>
            <a:ext cx="3090886" cy="2402732"/>
          </a:xfrm>
          <a:prstGeom prst="rect">
            <a:avLst/>
          </a:prstGeom>
        </p:spPr>
      </p:pic>
      <p:pic>
        <p:nvPicPr>
          <p:cNvPr id="11" name="Picture 10">
            <a:extLst>
              <a:ext uri="{FF2B5EF4-FFF2-40B4-BE49-F238E27FC236}">
                <a16:creationId xmlns:a16="http://schemas.microsoft.com/office/drawing/2014/main" id="{A55574A9-7C6E-FA4E-B8EE-EE3CECDFFF0E}"/>
              </a:ext>
            </a:extLst>
          </p:cNvPr>
          <p:cNvPicPr>
            <a:picLocks noChangeAspect="1"/>
          </p:cNvPicPr>
          <p:nvPr/>
        </p:nvPicPr>
        <p:blipFill>
          <a:blip r:embed="rId6"/>
          <a:stretch>
            <a:fillRect/>
          </a:stretch>
        </p:blipFill>
        <p:spPr>
          <a:xfrm>
            <a:off x="7790163" y="4562429"/>
            <a:ext cx="1519386" cy="2295571"/>
          </a:xfrm>
          <a:prstGeom prst="rect">
            <a:avLst/>
          </a:prstGeom>
        </p:spPr>
      </p:pic>
      <p:pic>
        <p:nvPicPr>
          <p:cNvPr id="12" name="Picture 11">
            <a:extLst>
              <a:ext uri="{FF2B5EF4-FFF2-40B4-BE49-F238E27FC236}">
                <a16:creationId xmlns:a16="http://schemas.microsoft.com/office/drawing/2014/main" id="{8BF3FF43-C106-4DA5-CE40-0FB7EF0B87B8}"/>
              </a:ext>
            </a:extLst>
          </p:cNvPr>
          <p:cNvPicPr>
            <a:picLocks noChangeAspect="1"/>
          </p:cNvPicPr>
          <p:nvPr/>
        </p:nvPicPr>
        <p:blipFill>
          <a:blip r:embed="rId7"/>
          <a:stretch>
            <a:fillRect/>
          </a:stretch>
        </p:blipFill>
        <p:spPr>
          <a:xfrm>
            <a:off x="4684722" y="4593259"/>
            <a:ext cx="1620123" cy="2264741"/>
          </a:xfrm>
          <a:prstGeom prst="rect">
            <a:avLst/>
          </a:prstGeom>
        </p:spPr>
      </p:pic>
      <p:pic>
        <p:nvPicPr>
          <p:cNvPr id="13" name="Picture 12">
            <a:extLst>
              <a:ext uri="{FF2B5EF4-FFF2-40B4-BE49-F238E27FC236}">
                <a16:creationId xmlns:a16="http://schemas.microsoft.com/office/drawing/2014/main" id="{277258D4-DB3E-87EB-C27B-36E7B721875D}"/>
              </a:ext>
            </a:extLst>
          </p:cNvPr>
          <p:cNvPicPr>
            <a:picLocks noChangeAspect="1"/>
          </p:cNvPicPr>
          <p:nvPr/>
        </p:nvPicPr>
        <p:blipFill>
          <a:blip r:embed="rId8"/>
          <a:stretch>
            <a:fillRect/>
          </a:stretch>
        </p:blipFill>
        <p:spPr>
          <a:xfrm>
            <a:off x="3090886" y="4593259"/>
            <a:ext cx="1593836" cy="2264741"/>
          </a:xfrm>
          <a:prstGeom prst="rect">
            <a:avLst/>
          </a:prstGeom>
        </p:spPr>
      </p:pic>
      <p:pic>
        <p:nvPicPr>
          <p:cNvPr id="14" name="Picture 13">
            <a:extLst>
              <a:ext uri="{FF2B5EF4-FFF2-40B4-BE49-F238E27FC236}">
                <a16:creationId xmlns:a16="http://schemas.microsoft.com/office/drawing/2014/main" id="{034DC072-4126-E0AC-8312-88BB4839BF40}"/>
              </a:ext>
            </a:extLst>
          </p:cNvPr>
          <p:cNvPicPr>
            <a:picLocks noChangeAspect="1"/>
          </p:cNvPicPr>
          <p:nvPr/>
        </p:nvPicPr>
        <p:blipFill>
          <a:blip r:embed="rId9"/>
          <a:stretch>
            <a:fillRect/>
          </a:stretch>
        </p:blipFill>
        <p:spPr>
          <a:xfrm>
            <a:off x="9275482" y="4562430"/>
            <a:ext cx="1502351" cy="2233906"/>
          </a:xfrm>
          <a:prstGeom prst="rect">
            <a:avLst/>
          </a:prstGeom>
          <a:effectLst>
            <a:outerShdw blurRad="50800" dist="50800" dir="5400000" algn="ctr" rotWithShape="0">
              <a:schemeClr val="tx1"/>
            </a:outerShdw>
          </a:effectLst>
        </p:spPr>
      </p:pic>
    </p:spTree>
    <p:extLst>
      <p:ext uri="{BB962C8B-B14F-4D97-AF65-F5344CB8AC3E}">
        <p14:creationId xmlns:p14="http://schemas.microsoft.com/office/powerpoint/2010/main" val="277285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3133</TotalTime>
  <Words>2180</Words>
  <Application>Microsoft Office PowerPoint</Application>
  <PresentationFormat>Widescreen</PresentationFormat>
  <Paragraphs>242</Paragraphs>
  <Slides>25</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Chowdesh P</dc:creator>
  <cp:lastModifiedBy>Chowdesh P</cp:lastModifiedBy>
  <cp:revision>9</cp:revision>
  <dcterms:created xsi:type="dcterms:W3CDTF">2026-02-26T03:19:33Z</dcterms:created>
  <dcterms:modified xsi:type="dcterms:W3CDTF">2026-04-12T06:08:24Z</dcterms:modified>
</cp:coreProperties>
</file>